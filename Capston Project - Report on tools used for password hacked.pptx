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4" r:id="rId3"/>
    <p:sldId id="674" r:id="rId4"/>
    <p:sldId id="716" r:id="rId5"/>
    <p:sldId id="717" r:id="rId6"/>
    <p:sldId id="718" r:id="rId7"/>
    <p:sldId id="719" r:id="rId8"/>
    <p:sldId id="720" r:id="rId9"/>
    <p:sldId id="721" r:id="rId10"/>
    <p:sldId id="722" r:id="rId11"/>
    <p:sldId id="723" r:id="rId12"/>
    <p:sldId id="728" r:id="rId13"/>
    <p:sldId id="729" r:id="rId14"/>
    <p:sldId id="730" r:id="rId15"/>
    <p:sldId id="712"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A55"/>
    <a:srgbClr val="1D1B58"/>
    <a:srgbClr val="002060"/>
    <a:srgbClr val="1C1A57"/>
    <a:srgbClr val="2F5597"/>
    <a:srgbClr val="33CC33"/>
    <a:srgbClr val="333F50"/>
    <a:srgbClr val="8497B0"/>
    <a:srgbClr val="8FAADC"/>
    <a:srgbClr val="626C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D8E2CC-B3C0-411B-9522-A2C8A9629E99}" v="1" dt="2026-05-23T23:59:13.637"/>
    <p1510:client id="{BEAAE815-FA64-46B5-9606-9426002558BD}" v="233" dt="2026-05-23T23:34:53.8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64" d="100"/>
          <a:sy n="64" d="100"/>
        </p:scale>
        <p:origin x="660" y="56"/>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rajKumar Shukla" userId="ff892c68c0675b34" providerId="LiveId" clId="{89E9DCB2-BC37-4A80-8EFC-EF9CEE466C42}"/>
    <pc:docChg chg="undo custSel modSld">
      <pc:chgData name="NeerajKumar Shukla" userId="ff892c68c0675b34" providerId="LiveId" clId="{89E9DCB2-BC37-4A80-8EFC-EF9CEE466C42}" dt="2026-05-24T00:04:28.480" v="136" actId="1076"/>
      <pc:docMkLst>
        <pc:docMk/>
      </pc:docMkLst>
      <pc:sldChg chg="addSp delSp modSp mod">
        <pc:chgData name="NeerajKumar Shukla" userId="ff892c68c0675b34" providerId="LiveId" clId="{89E9DCB2-BC37-4A80-8EFC-EF9CEE466C42}" dt="2026-05-24T00:04:28.480" v="136" actId="1076"/>
        <pc:sldMkLst>
          <pc:docMk/>
          <pc:sldMk cId="1024334718" sldId="256"/>
        </pc:sldMkLst>
        <pc:spChg chg="mod">
          <ac:chgData name="NeerajKumar Shukla" userId="ff892c68c0675b34" providerId="LiveId" clId="{89E9DCB2-BC37-4A80-8EFC-EF9CEE466C42}" dt="2026-05-24T00:01:37.379" v="75" actId="14100"/>
          <ac:spMkLst>
            <pc:docMk/>
            <pc:sldMk cId="1024334718" sldId="256"/>
            <ac:spMk id="2" creationId="{1A225F15-9B21-01FF-BD6D-D04F30F7A091}"/>
          </ac:spMkLst>
        </pc:spChg>
        <pc:spChg chg="mod">
          <ac:chgData name="NeerajKumar Shukla" userId="ff892c68c0675b34" providerId="LiveId" clId="{89E9DCB2-BC37-4A80-8EFC-EF9CEE466C42}" dt="2026-05-24T00:02:01.390" v="110" actId="1035"/>
          <ac:spMkLst>
            <pc:docMk/>
            <pc:sldMk cId="1024334718" sldId="256"/>
            <ac:spMk id="4" creationId="{AB26D8B5-7C45-72BB-56F5-3D1C51DD0A6E}"/>
          </ac:spMkLst>
        </pc:spChg>
        <pc:spChg chg="add mod">
          <ac:chgData name="NeerajKumar Shukla" userId="ff892c68c0675b34" providerId="LiveId" clId="{89E9DCB2-BC37-4A80-8EFC-EF9CEE466C42}" dt="2026-05-24T00:01:00.396" v="72" actId="20577"/>
          <ac:spMkLst>
            <pc:docMk/>
            <pc:sldMk cId="1024334718" sldId="256"/>
            <ac:spMk id="5" creationId="{85179B26-3FBB-C5EC-2332-958526B201EF}"/>
          </ac:spMkLst>
        </pc:spChg>
        <pc:spChg chg="add del mod">
          <ac:chgData name="NeerajKumar Shukla" userId="ff892c68c0675b34" providerId="LiveId" clId="{89E9DCB2-BC37-4A80-8EFC-EF9CEE466C42}" dt="2026-05-24T00:01:25.555" v="74" actId="478"/>
          <ac:spMkLst>
            <pc:docMk/>
            <pc:sldMk cId="1024334718" sldId="256"/>
            <ac:spMk id="7" creationId="{4868B284-FE1F-2D41-B62F-D5723B84BB4D}"/>
          </ac:spMkLst>
        </pc:spChg>
        <pc:spChg chg="add mod">
          <ac:chgData name="NeerajKumar Shukla" userId="ff892c68c0675b34" providerId="LiveId" clId="{89E9DCB2-BC37-4A80-8EFC-EF9CEE466C42}" dt="2026-05-24T00:04:28.480" v="136" actId="1076"/>
          <ac:spMkLst>
            <pc:docMk/>
            <pc:sldMk cId="1024334718" sldId="256"/>
            <ac:spMk id="9" creationId="{C5BBF047-271F-534E-D566-73255BE3B69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27-06-2026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xmlns=""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xmlns=""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xmlns=""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xmlns=""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xmlns=""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xmlns=""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xmlns=""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xmlns=""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xmlns=""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xmlns=""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A225F15-9B21-01FF-BD6D-D04F30F7A091}"/>
              </a:ext>
            </a:extLst>
          </p:cNvPr>
          <p:cNvSpPr/>
          <p:nvPr/>
        </p:nvSpPr>
        <p:spPr>
          <a:xfrm>
            <a:off x="0" y="2067340"/>
            <a:ext cx="12192000" cy="24947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Calibri" panose="020F0502020204030204" pitchFamily="34" charset="0"/>
              </a:rPr>
              <a:t> </a:t>
            </a:r>
            <a:r>
              <a:rPr lang="en-US" sz="4400" b="1" dirty="0">
                <a:latin typeface="Calibri" panose="020F0502020204030204" pitchFamily="34" charset="0"/>
              </a:rPr>
              <a:t>Project:</a:t>
            </a:r>
          </a:p>
          <a:p>
            <a:pPr algn="ctr"/>
            <a:r>
              <a:rPr lang="en-US" sz="4400" b="1" dirty="0">
                <a:latin typeface="Calibri" panose="020F0502020204030204" pitchFamily="34" charset="0"/>
              </a:rPr>
              <a:t> </a:t>
            </a:r>
            <a:r>
              <a:rPr lang="en-US" sz="4400" b="1" dirty="0" smtClean="0">
                <a:latin typeface="Calibri" panose="020F0502020204030204" pitchFamily="34" charset="0"/>
              </a:rPr>
              <a:t>PASSWORD HACK ANY WITH THE PISHING ATACK</a:t>
            </a: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38B360-A630-EE21-210D-844E85048949}"/>
              </a:ext>
            </a:extLst>
          </p:cNvPr>
          <p:cNvSpPr>
            <a:spLocks noGrp="1"/>
          </p:cNvSpPr>
          <p:nvPr>
            <p:ph type="title"/>
          </p:nvPr>
        </p:nvSpPr>
        <p:spPr/>
        <p:txBody>
          <a:bodyPr>
            <a:normAutofit fontScale="90000"/>
          </a:bodyPr>
          <a:lstStyle/>
          <a:p>
            <a:r>
              <a:rPr lang="en-US" dirty="0" smtClean="0"/>
              <a:t>Agenda</a:t>
            </a:r>
            <a:r>
              <a:rPr lang="en-IN" dirty="0"/>
              <a:t/>
            </a:r>
            <a:br>
              <a:rPr lang="en-IN" dirty="0"/>
            </a:br>
            <a:endParaRPr lang="en-IN" dirty="0"/>
          </a:p>
        </p:txBody>
      </p:sp>
      <p:sp>
        <p:nvSpPr>
          <p:cNvPr id="3" name="Content Placeholder 2">
            <a:extLst>
              <a:ext uri="{FF2B5EF4-FFF2-40B4-BE49-F238E27FC236}">
                <a16:creationId xmlns:a16="http://schemas.microsoft.com/office/drawing/2014/main" xmlns="" id="{67B003C9-103A-47E6-D7EB-87D0A8CB5431}"/>
              </a:ext>
            </a:extLst>
          </p:cNvPr>
          <p:cNvSpPr>
            <a:spLocks noGrp="1"/>
          </p:cNvSpPr>
          <p:nvPr>
            <p:ph idx="1"/>
          </p:nvPr>
        </p:nvSpPr>
        <p:spPr>
          <a:xfrm>
            <a:off x="678882" y="1127760"/>
            <a:ext cx="10834234" cy="5029199"/>
          </a:xfrm>
        </p:spPr>
        <p:txBody>
          <a:bodyPr>
            <a:normAutofit/>
          </a:bodyPr>
          <a:lstStyle/>
          <a:p>
            <a:pPr>
              <a:lnSpc>
                <a:spcPct val="120000"/>
              </a:lnSpc>
            </a:pPr>
            <a:r>
              <a:rPr lang="en-US" dirty="0"/>
              <a:t>The main agenda outlined in the slide is to find out how password cracking works using an automated phishing tool called </a:t>
            </a:r>
            <a:r>
              <a:rPr lang="en-US" b="1" dirty="0"/>
              <a:t>Zphisher</a:t>
            </a:r>
            <a:r>
              <a:rPr lang="en-US" dirty="0"/>
              <a:t> to steal credentials from various social media platforms.</a:t>
            </a:r>
            <a:r>
              <a:rPr lang="en-US" dirty="0" smtClean="0"/>
              <a:t>. </a:t>
            </a:r>
            <a:endParaRPr lang="en-US" dirty="0"/>
          </a:p>
          <a:p>
            <a:endParaRPr lang="en-US"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1E853F5-3FF5-F820-B593-B4F4AF27A2B6}"/>
              </a:ext>
            </a:extLst>
          </p:cNvPr>
          <p:cNvSpPr>
            <a:spLocks noGrp="1"/>
          </p:cNvSpPr>
          <p:nvPr>
            <p:ph type="title"/>
          </p:nvPr>
        </p:nvSpPr>
        <p:spPr>
          <a:xfrm>
            <a:off x="678884" y="277769"/>
            <a:ext cx="10834234" cy="612775"/>
          </a:xfrm>
        </p:spPr>
        <p:txBody>
          <a:bodyPr/>
          <a:lstStyle/>
          <a:p>
            <a:r>
              <a:rPr lang="en-IN" dirty="0" smtClean="0"/>
              <a:t>Research </a:t>
            </a:r>
            <a:endParaRPr lang="en-IN" dirty="0"/>
          </a:p>
        </p:txBody>
      </p:sp>
      <p:sp>
        <p:nvSpPr>
          <p:cNvPr id="4" name="Rectangle 1"/>
          <p:cNvSpPr>
            <a:spLocks noGrp="1" noChangeArrowheads="1"/>
          </p:cNvSpPr>
          <p:nvPr>
            <p:ph idx="1"/>
          </p:nvPr>
        </p:nvSpPr>
        <p:spPr bwMode="auto">
          <a:xfrm>
            <a:off x="679450" y="952825"/>
            <a:ext cx="11018907"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Credential Harvesting:</a:t>
            </a:r>
            <a:r>
              <a:rPr kumimoji="0" lang="en-US" altLang="en-US" sz="2400" b="0" i="0" u="none" strike="noStrike" cap="none" normalizeH="0" baseline="0" dirty="0" smtClean="0">
                <a:ln>
                  <a:noFill/>
                </a:ln>
                <a:solidFill>
                  <a:schemeClr val="tx1"/>
                </a:solidFill>
                <a:effectLst/>
                <a:latin typeface="Google Sans"/>
              </a:rPr>
              <a:t> Analyzing how attackers use automated toolkits to replicate legitimate login pages.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Social Engineering:</a:t>
            </a:r>
            <a:r>
              <a:rPr kumimoji="0" lang="en-US" altLang="en-US" sz="2400" b="0" i="0" u="none" strike="noStrike" cap="none" normalizeH="0" baseline="0" dirty="0" smtClean="0">
                <a:ln>
                  <a:noFill/>
                </a:ln>
                <a:solidFill>
                  <a:schemeClr val="tx1"/>
                </a:solidFill>
                <a:effectLst/>
                <a:latin typeface="Google Sans"/>
              </a:rPr>
              <a:t> Investigating how users are manipulated into entering private credentials on spoofed sites.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Phishing Automation:</a:t>
            </a:r>
            <a:r>
              <a:rPr kumimoji="0" lang="en-US" altLang="en-US" sz="2400" b="0" i="0" u="none" strike="noStrike" cap="none" normalizeH="0" baseline="0" dirty="0" smtClean="0">
                <a:ln>
                  <a:noFill/>
                </a:ln>
                <a:solidFill>
                  <a:schemeClr val="tx1"/>
                </a:solidFill>
                <a:effectLst/>
                <a:latin typeface="Google Sans"/>
              </a:rPr>
              <a:t> Studying the mechanics of open-source phishing frameworks (like Zphisher) to understand their deployment methods and vulnerabilities.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Google Sans"/>
              </a:rPr>
              <a:t>Cybersecurity Defense:</a:t>
            </a:r>
            <a:r>
              <a:rPr kumimoji="0" lang="en-US" altLang="en-US" sz="2400" b="0" i="0" u="none" strike="noStrike" cap="none" normalizeH="0" baseline="0" dirty="0" smtClean="0">
                <a:ln>
                  <a:noFill/>
                </a:ln>
                <a:solidFill>
                  <a:schemeClr val="tx1"/>
                </a:solidFill>
                <a:effectLst/>
                <a:latin typeface="Google Sans"/>
              </a:rPr>
              <a:t> Evaluating how organizations and individuals can detect, block, and mitigate these specific automated social engineering attacks</a:t>
            </a:r>
            <a:r>
              <a:rPr kumimoji="0" lang="en-US" altLang="en-US" sz="1200" b="0" i="0" u="none" strike="noStrike" cap="none" normalizeH="0" baseline="0" dirty="0" smtClean="0">
                <a:ln>
                  <a:noFill/>
                </a:ln>
                <a:solidFill>
                  <a:schemeClr val="tx1"/>
                </a:solidFill>
                <a:effectLst/>
              </a:rPr>
              <a:t> </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7F6ACB-E561-8EA8-8637-B167E298B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AB5D95B-E04D-FFEC-7138-496EB18D506C}"/>
              </a:ext>
            </a:extLst>
          </p:cNvPr>
          <p:cNvSpPr>
            <a:spLocks noGrp="1"/>
          </p:cNvSpPr>
          <p:nvPr>
            <p:ph type="title"/>
          </p:nvPr>
        </p:nvSpPr>
        <p:spPr>
          <a:xfrm>
            <a:off x="549677" y="148562"/>
            <a:ext cx="10834234" cy="612775"/>
          </a:xfrm>
        </p:spPr>
        <p:txBody>
          <a:bodyPr>
            <a:normAutofit/>
          </a:bodyPr>
          <a:lstStyle/>
          <a:p>
            <a:r>
              <a:rPr lang="en-IN" sz="3050" dirty="0" smtClean="0"/>
              <a:t>Introduction</a:t>
            </a:r>
            <a:endParaRPr lang="en-IN" sz="3050" dirty="0"/>
          </a:p>
        </p:txBody>
      </p:sp>
      <p:sp>
        <p:nvSpPr>
          <p:cNvPr id="3" name="Content Placeholder 2">
            <a:extLst>
              <a:ext uri="{FF2B5EF4-FFF2-40B4-BE49-F238E27FC236}">
                <a16:creationId xmlns:a16="http://schemas.microsoft.com/office/drawing/2014/main" xmlns="" id="{679F0032-D44D-A59C-57FA-E9DFC0903C23}"/>
              </a:ext>
            </a:extLst>
          </p:cNvPr>
          <p:cNvSpPr>
            <a:spLocks noGrp="1"/>
          </p:cNvSpPr>
          <p:nvPr>
            <p:ph idx="1"/>
          </p:nvPr>
        </p:nvSpPr>
        <p:spPr>
          <a:xfrm>
            <a:off x="470163" y="681825"/>
            <a:ext cx="6646478" cy="2680357"/>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1800" dirty="0"/>
              <a:t>Phishing remains one of the most successful cyberattack techniques</a:t>
            </a:r>
            <a:r>
              <a:rPr lang="en-US" sz="1800" dirty="0" smtClean="0"/>
              <a:t>.</a:t>
            </a:r>
          </a:p>
          <a:p>
            <a:pPr marL="0" indent="0">
              <a:buNone/>
            </a:pPr>
            <a:r>
              <a:rPr lang="en-US" sz="1800" dirty="0"/>
              <a:t>Toolkits that automate phishing workflows — such as Zphisher (commonly discussed in security communities) — make it easier for attackers to scale social-engineering campaigns</a:t>
            </a:r>
            <a:r>
              <a:rPr lang="en-US" sz="1800" dirty="0" smtClean="0"/>
              <a:t>.</a:t>
            </a:r>
          </a:p>
          <a:p>
            <a:pPr marL="0" indent="0">
              <a:buNone/>
            </a:pPr>
            <a:r>
              <a:rPr lang="en-US" sz="1800" dirty="0"/>
              <a:t>Zphisher is known within security circles as an automated phishing toolkit (a family of scripts and templates) that streamlines the creation of fake login pages and assists attackers in delivering social-engineering lures. At a conceptual level, such toolkits typically combine:</a:t>
            </a:r>
            <a:endParaRPr lang="en-US" sz="1650" dirty="0"/>
          </a:p>
        </p:txBody>
      </p:sp>
    </p:spTree>
    <p:extLst>
      <p:ext uri="{BB962C8B-B14F-4D97-AF65-F5344CB8AC3E}">
        <p14:creationId xmlns:p14="http://schemas.microsoft.com/office/powerpoint/2010/main" val="388613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BC582BB-4965-946D-0DBB-773CCC489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512472D-EF0B-4B6E-5ABB-383F61A24F8D}"/>
              </a:ext>
            </a:extLst>
          </p:cNvPr>
          <p:cNvSpPr>
            <a:spLocks noGrp="1"/>
          </p:cNvSpPr>
          <p:nvPr>
            <p:ph type="title"/>
          </p:nvPr>
        </p:nvSpPr>
        <p:spPr>
          <a:xfrm>
            <a:off x="335654" y="97642"/>
            <a:ext cx="6577762" cy="612775"/>
          </a:xfrm>
        </p:spPr>
        <p:txBody>
          <a:bodyPr>
            <a:normAutofit/>
          </a:bodyPr>
          <a:lstStyle/>
          <a:p>
            <a:r>
              <a:rPr lang="en-IN" sz="2600" dirty="0" smtClean="0"/>
              <a:t>TOOLS USED</a:t>
            </a:r>
            <a:endParaRPr lang="en-IN" sz="2600" dirty="0"/>
          </a:p>
        </p:txBody>
      </p:sp>
      <p:sp>
        <p:nvSpPr>
          <p:cNvPr id="3" name="Content Placeholder 2">
            <a:extLst>
              <a:ext uri="{FF2B5EF4-FFF2-40B4-BE49-F238E27FC236}">
                <a16:creationId xmlns:a16="http://schemas.microsoft.com/office/drawing/2014/main" xmlns="" id="{0961998C-7DFB-98D8-A485-F9908BEE222D}"/>
              </a:ext>
            </a:extLst>
          </p:cNvPr>
          <p:cNvSpPr>
            <a:spLocks noGrp="1"/>
          </p:cNvSpPr>
          <p:nvPr>
            <p:ph idx="1"/>
          </p:nvPr>
        </p:nvSpPr>
        <p:spPr>
          <a:xfrm>
            <a:off x="353763" y="655871"/>
            <a:ext cx="6558023" cy="2680357"/>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7600" b="1" dirty="0"/>
              <a:t> </a:t>
            </a:r>
            <a:r>
              <a:rPr lang="en-US" sz="4400" b="1" dirty="0" smtClean="0"/>
              <a:t>1-KALI LINUX</a:t>
            </a:r>
          </a:p>
          <a:p>
            <a:pPr marL="0" indent="0">
              <a:buNone/>
            </a:pPr>
            <a:r>
              <a:rPr lang="en-US" sz="4400" b="1" dirty="0" smtClean="0"/>
              <a:t>  2-ZPISHER</a:t>
            </a:r>
            <a:endParaRPr lang="en-US" sz="4000" dirty="0"/>
          </a:p>
        </p:txBody>
      </p:sp>
    </p:spTree>
    <p:extLst>
      <p:ext uri="{BB962C8B-B14F-4D97-AF65-F5344CB8AC3E}">
        <p14:creationId xmlns:p14="http://schemas.microsoft.com/office/powerpoint/2010/main" val="272845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90D5297-50A3-71E1-967C-F5EA0578E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ADBD2C3-2888-243E-2BED-D1BEA9B58132}"/>
              </a:ext>
            </a:extLst>
          </p:cNvPr>
          <p:cNvSpPr>
            <a:spLocks noGrp="1"/>
          </p:cNvSpPr>
          <p:nvPr>
            <p:ph type="title"/>
          </p:nvPr>
        </p:nvSpPr>
        <p:spPr>
          <a:xfrm>
            <a:off x="440344" y="186550"/>
            <a:ext cx="10834234" cy="612775"/>
          </a:xfrm>
        </p:spPr>
        <p:txBody>
          <a:bodyPr>
            <a:normAutofit/>
          </a:bodyPr>
          <a:lstStyle/>
          <a:p>
            <a:r>
              <a:rPr lang="en-IN" sz="2800" dirty="0" smtClean="0"/>
              <a:t>Commands Used</a:t>
            </a:r>
            <a:endParaRPr lang="en-IN" sz="2800" dirty="0"/>
          </a:p>
        </p:txBody>
      </p:sp>
      <p:sp>
        <p:nvSpPr>
          <p:cNvPr id="3" name="Content Placeholder 2">
            <a:extLst>
              <a:ext uri="{FF2B5EF4-FFF2-40B4-BE49-F238E27FC236}">
                <a16:creationId xmlns:a16="http://schemas.microsoft.com/office/drawing/2014/main" xmlns="" id="{C5BA20BE-26A2-CFE8-39C1-898F451A27FB}"/>
              </a:ext>
            </a:extLst>
          </p:cNvPr>
          <p:cNvSpPr>
            <a:spLocks noGrp="1"/>
          </p:cNvSpPr>
          <p:nvPr>
            <p:ph idx="1"/>
          </p:nvPr>
        </p:nvSpPr>
        <p:spPr>
          <a:xfrm>
            <a:off x="370769" y="689353"/>
            <a:ext cx="6715831" cy="2680357"/>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sz="1800" dirty="0"/>
              <a:t>Just, Clone this </a:t>
            </a:r>
            <a:r>
              <a:rPr lang="en-US" sz="1800" dirty="0" smtClean="0"/>
              <a:t>repository and install</a:t>
            </a:r>
          </a:p>
          <a:p>
            <a:pPr marL="0" indent="0">
              <a:buNone/>
            </a:pPr>
            <a:r>
              <a:rPr lang="en-US" sz="1700" dirty="0" err="1">
                <a:solidFill>
                  <a:schemeClr val="accent1"/>
                </a:solidFill>
              </a:rPr>
              <a:t>git</a:t>
            </a:r>
            <a:r>
              <a:rPr lang="en-US" sz="1700" dirty="0">
                <a:solidFill>
                  <a:schemeClr val="accent1"/>
                </a:solidFill>
              </a:rPr>
              <a:t> clone --depth=1 https://github.com/htr-tech/zphisher.git</a:t>
            </a:r>
          </a:p>
        </p:txBody>
      </p:sp>
    </p:spTree>
    <p:extLst>
      <p:ext uri="{BB962C8B-B14F-4D97-AF65-F5344CB8AC3E}">
        <p14:creationId xmlns:p14="http://schemas.microsoft.com/office/powerpoint/2010/main" val="1109209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4C17CBA-B713-18AC-192F-C8AD8211D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70DA86C-A81E-3367-062C-02A8078B7A04}"/>
              </a:ext>
            </a:extLst>
          </p:cNvPr>
          <p:cNvSpPr>
            <a:spLocks noGrp="1"/>
          </p:cNvSpPr>
          <p:nvPr>
            <p:ph type="title"/>
          </p:nvPr>
        </p:nvSpPr>
        <p:spPr>
          <a:xfrm>
            <a:off x="390650" y="297648"/>
            <a:ext cx="7560655" cy="557118"/>
          </a:xfrm>
        </p:spPr>
        <p:txBody>
          <a:bodyPr>
            <a:normAutofit/>
          </a:bodyPr>
          <a:lstStyle/>
          <a:p>
            <a:r>
              <a:rPr lang="en-US" sz="2800" dirty="0" smtClean="0"/>
              <a:t>Commands Used</a:t>
            </a:r>
            <a:endParaRPr lang="en-US" sz="2800" dirty="0"/>
          </a:p>
        </p:txBody>
      </p:sp>
      <p:sp>
        <p:nvSpPr>
          <p:cNvPr id="4" name="Rectangle 1"/>
          <p:cNvSpPr>
            <a:spLocks noGrp="1" noChangeArrowheads="1"/>
          </p:cNvSpPr>
          <p:nvPr>
            <p:ph idx="1"/>
          </p:nvPr>
        </p:nvSpPr>
        <p:spPr bwMode="auto">
          <a:xfrm>
            <a:off x="390650" y="1001671"/>
            <a:ext cx="512596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1F2328"/>
                </a:solidFill>
                <a:effectLst/>
                <a:latin typeface="Mona Sans VF"/>
              </a:rPr>
              <a:t>Now go to cloned directory and run </a:t>
            </a:r>
            <a:r>
              <a:rPr kumimoji="0" lang="en-US" altLang="en-US" sz="1200" b="0" i="0" u="none" strike="noStrike" cap="none" normalizeH="0" baseline="0" dirty="0" smtClean="0">
                <a:ln>
                  <a:noFill/>
                </a:ln>
                <a:solidFill>
                  <a:srgbClr val="1F2328"/>
                </a:solidFill>
                <a:effectLst/>
                <a:latin typeface="Monaspace Neon"/>
              </a:rPr>
              <a:t>zphisher.sh</a:t>
            </a:r>
            <a:r>
              <a:rPr kumimoji="0" lang="en-US" altLang="en-US" sz="1100" b="0" i="0" u="none" strike="noStrike" cap="none" normalizeH="0" baseline="0" dirty="0" smtClean="0">
                <a:ln>
                  <a:noFill/>
                </a:ln>
                <a:solidFill>
                  <a:schemeClr val="tx1"/>
                </a:solidFill>
                <a:effectLst/>
              </a:rPr>
              <a:t>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506897" y="2213346"/>
            <a:ext cx="5734878" cy="738664"/>
          </a:xfrm>
          <a:prstGeom prst="rect">
            <a:avLst/>
          </a:prstGeom>
          <a:solidFill>
            <a:srgbClr val="F6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1F2328"/>
                </a:solidFill>
                <a:effectLst/>
                <a:latin typeface="Monaspace Neon"/>
              </a:rPr>
              <a:t>cd zphisher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1F2328"/>
                </a:solidFill>
                <a:effectLst/>
                <a:latin typeface="Monaspace Neon"/>
              </a:rPr>
              <a:t>bash zphisher.sh</a:t>
            </a:r>
            <a:r>
              <a:rPr kumimoji="0" lang="en-US" altLang="en-US" sz="2000" b="0" i="0" u="none" strike="noStrike" cap="none" normalizeH="0" baseline="0" dirty="0" smtClean="0">
                <a:ln>
                  <a:noFill/>
                </a:ln>
                <a:solidFill>
                  <a:schemeClr val="tx1"/>
                </a:solidFill>
                <a:effectLst/>
              </a:rPr>
              <a:t> </a:t>
            </a:r>
            <a:endParaRPr kumimoji="0" lang="en-US" altLang="en-US" sz="5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0128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F6BC1E-A6FA-B942-FF43-66FB38A31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670CA20-5441-44CE-FE5D-0E9CEA2E4C65}"/>
              </a:ext>
            </a:extLst>
          </p:cNvPr>
          <p:cNvSpPr>
            <a:spLocks noGrp="1"/>
          </p:cNvSpPr>
          <p:nvPr>
            <p:ph type="title"/>
          </p:nvPr>
        </p:nvSpPr>
        <p:spPr>
          <a:xfrm>
            <a:off x="455364" y="183533"/>
            <a:ext cx="10834234" cy="612775"/>
          </a:xfrm>
        </p:spPr>
        <p:txBody>
          <a:bodyPr>
            <a:normAutofit/>
          </a:bodyPr>
          <a:lstStyle/>
          <a:p>
            <a:r>
              <a:rPr lang="en-US" sz="3100" dirty="0" smtClean="0"/>
              <a:t>Output for this</a:t>
            </a:r>
            <a:endParaRPr lang="en-IN" sz="3100" dirty="0"/>
          </a:p>
        </p:txBody>
      </p:sp>
      <p:pic>
        <p:nvPicPr>
          <p:cNvPr id="4" name="Content Placeholder 3"/>
          <p:cNvPicPr>
            <a:picLocks noGrp="1" noChangeAspect="1"/>
          </p:cNvPicPr>
          <p:nvPr>
            <p:ph idx="1"/>
          </p:nvPr>
        </p:nvPicPr>
        <p:blipFill>
          <a:blip r:embed="rId2"/>
          <a:stretch>
            <a:fillRect/>
          </a:stretch>
        </p:blipFill>
        <p:spPr>
          <a:xfrm>
            <a:off x="347870" y="731838"/>
            <a:ext cx="7911547" cy="4317240"/>
          </a:xfrm>
          <a:prstGeom prst="rect">
            <a:avLst/>
          </a:prstGeom>
        </p:spPr>
      </p:pic>
    </p:spTree>
    <p:extLst>
      <p:ext uri="{BB962C8B-B14F-4D97-AF65-F5344CB8AC3E}">
        <p14:creationId xmlns:p14="http://schemas.microsoft.com/office/powerpoint/2010/main" val="4218978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9E4BDB-7CAF-E409-FC98-80C33A8F3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33B4C68-E05F-058B-C837-97699DA43269}"/>
              </a:ext>
            </a:extLst>
          </p:cNvPr>
          <p:cNvSpPr>
            <a:spLocks noGrp="1"/>
          </p:cNvSpPr>
          <p:nvPr>
            <p:ph type="title"/>
          </p:nvPr>
        </p:nvSpPr>
        <p:spPr>
          <a:xfrm>
            <a:off x="556964" y="89452"/>
            <a:ext cx="10834234" cy="849461"/>
          </a:xfrm>
        </p:spPr>
        <p:txBody>
          <a:bodyPr>
            <a:normAutofit/>
          </a:bodyPr>
          <a:lstStyle/>
          <a:p>
            <a:r>
              <a:rPr lang="en-IN" sz="2400" dirty="0" smtClean="0"/>
              <a:t>Now we target </a:t>
            </a:r>
            <a:r>
              <a:rPr lang="en-IN" sz="2400" dirty="0" err="1" smtClean="0"/>
              <a:t>facebook</a:t>
            </a:r>
            <a:r>
              <a:rPr lang="en-IN" sz="2400" dirty="0" smtClean="0"/>
              <a:t> and select the number 01</a:t>
            </a:r>
            <a:endParaRPr lang="en-IN" sz="2400" dirty="0"/>
          </a:p>
        </p:txBody>
      </p:sp>
      <p:pic>
        <p:nvPicPr>
          <p:cNvPr id="4" name="Content Placeholder 3"/>
          <p:cNvPicPr>
            <a:picLocks noGrp="1" noChangeAspect="1"/>
          </p:cNvPicPr>
          <p:nvPr>
            <p:ph idx="1"/>
          </p:nvPr>
        </p:nvPicPr>
        <p:blipFill>
          <a:blip r:embed="rId2"/>
          <a:stretch>
            <a:fillRect/>
          </a:stretch>
        </p:blipFill>
        <p:spPr>
          <a:xfrm>
            <a:off x="345439" y="671513"/>
            <a:ext cx="8420873" cy="4839809"/>
          </a:xfrm>
          <a:prstGeom prst="rect">
            <a:avLst/>
          </a:prstGeom>
        </p:spPr>
      </p:pic>
      <p:sp>
        <p:nvSpPr>
          <p:cNvPr id="8" name="TextBox 7">
            <a:extLst>
              <a:ext uri="{FF2B5EF4-FFF2-40B4-BE49-F238E27FC236}">
                <a16:creationId xmlns:a16="http://schemas.microsoft.com/office/drawing/2014/main" xmlns="" id="{FF9EAB94-C298-914E-27F6-CAD19B2093FC}"/>
              </a:ext>
            </a:extLst>
          </p:cNvPr>
          <p:cNvSpPr txBox="1"/>
          <p:nvPr/>
        </p:nvSpPr>
        <p:spPr>
          <a:xfrm>
            <a:off x="345439" y="3693995"/>
            <a:ext cx="7144317" cy="400110"/>
          </a:xfrm>
          <a:prstGeom prst="rect">
            <a:avLst/>
          </a:prstGeom>
          <a:noFill/>
        </p:spPr>
        <p:txBody>
          <a:bodyPr wrap="square">
            <a:spAutoFit/>
          </a:bodyPr>
          <a:lstStyle/>
          <a:p>
            <a:r>
              <a:rPr lang="en-IN" sz="2000" b="1" dirty="0" smtClean="0"/>
              <a:t>2</a:t>
            </a:r>
            <a:endParaRPr lang="en-IN" dirty="0"/>
          </a:p>
        </p:txBody>
      </p:sp>
    </p:spTree>
    <p:extLst>
      <p:ext uri="{BB962C8B-B14F-4D97-AF65-F5344CB8AC3E}">
        <p14:creationId xmlns:p14="http://schemas.microsoft.com/office/powerpoint/2010/main" val="1355053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4C63FB-F256-F485-5182-C12BDCBEB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9967363-AD31-2864-1317-373422F833C1}"/>
              </a:ext>
            </a:extLst>
          </p:cNvPr>
          <p:cNvSpPr>
            <a:spLocks noGrp="1"/>
          </p:cNvSpPr>
          <p:nvPr>
            <p:ph type="title"/>
          </p:nvPr>
        </p:nvSpPr>
        <p:spPr>
          <a:xfrm>
            <a:off x="404564" y="336298"/>
            <a:ext cx="10834234" cy="612775"/>
          </a:xfrm>
        </p:spPr>
        <p:txBody>
          <a:bodyPr>
            <a:normAutofit/>
          </a:bodyPr>
          <a:lstStyle/>
          <a:p>
            <a:r>
              <a:rPr lang="en-US" dirty="0" smtClean="0"/>
              <a:t>Now we can select the Facebook  messenger login page 04</a:t>
            </a:r>
            <a:endParaRPr lang="en-US" dirty="0"/>
          </a:p>
        </p:txBody>
      </p:sp>
      <p:pic>
        <p:nvPicPr>
          <p:cNvPr id="4" name="Content Placeholder 3"/>
          <p:cNvPicPr>
            <a:picLocks noGrp="1" noChangeAspect="1"/>
          </p:cNvPicPr>
          <p:nvPr>
            <p:ph idx="1"/>
          </p:nvPr>
        </p:nvPicPr>
        <p:blipFill>
          <a:blip r:embed="rId2"/>
          <a:stretch>
            <a:fillRect/>
          </a:stretch>
        </p:blipFill>
        <p:spPr>
          <a:xfrm>
            <a:off x="1132674" y="935038"/>
            <a:ext cx="5497528" cy="2679700"/>
          </a:xfrm>
          <a:prstGeom prst="rect">
            <a:avLst/>
          </a:prstGeom>
        </p:spPr>
      </p:pic>
    </p:spTree>
    <p:extLst>
      <p:ext uri="{BB962C8B-B14F-4D97-AF65-F5344CB8AC3E}">
        <p14:creationId xmlns:p14="http://schemas.microsoft.com/office/powerpoint/2010/main" val="2805611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965951-3EB0-A4BC-F8A9-FA6EE318B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D75A95B-0785-F4EB-E915-EFE46195273D}"/>
              </a:ext>
            </a:extLst>
          </p:cNvPr>
          <p:cNvSpPr>
            <a:spLocks noGrp="1"/>
          </p:cNvSpPr>
          <p:nvPr>
            <p:ph type="title"/>
          </p:nvPr>
        </p:nvSpPr>
        <p:spPr>
          <a:xfrm>
            <a:off x="516324" y="182993"/>
            <a:ext cx="10834234" cy="612775"/>
          </a:xfrm>
        </p:spPr>
        <p:txBody>
          <a:bodyPr>
            <a:normAutofit/>
          </a:bodyPr>
          <a:lstStyle/>
          <a:p>
            <a:r>
              <a:rPr lang="en-US" sz="2800" dirty="0" smtClean="0"/>
              <a:t>We find out the target </a:t>
            </a:r>
            <a:r>
              <a:rPr lang="en-US" sz="2800" dirty="0" err="1" smtClean="0"/>
              <a:t>ip</a:t>
            </a:r>
            <a:r>
              <a:rPr lang="en-US" sz="2800" dirty="0"/>
              <a:t> http://127.0.0.1:8080</a:t>
            </a:r>
          </a:p>
        </p:txBody>
      </p:sp>
      <p:pic>
        <p:nvPicPr>
          <p:cNvPr id="4" name="Content Placeholder 3"/>
          <p:cNvPicPr>
            <a:picLocks noGrp="1" noChangeAspect="1"/>
          </p:cNvPicPr>
          <p:nvPr>
            <p:ph idx="1"/>
          </p:nvPr>
        </p:nvPicPr>
        <p:blipFill>
          <a:blip r:embed="rId2"/>
          <a:stretch>
            <a:fillRect/>
          </a:stretch>
        </p:blipFill>
        <p:spPr>
          <a:xfrm>
            <a:off x="778358" y="1866106"/>
            <a:ext cx="6162675" cy="2733675"/>
          </a:xfrm>
          <a:prstGeom prst="rect">
            <a:avLst/>
          </a:prstGeom>
        </p:spPr>
      </p:pic>
    </p:spTree>
    <p:extLst>
      <p:ext uri="{BB962C8B-B14F-4D97-AF65-F5344CB8AC3E}">
        <p14:creationId xmlns:p14="http://schemas.microsoft.com/office/powerpoint/2010/main" val="3711846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Now I found the messenger login page</a:t>
            </a:r>
            <a:endParaRPr lang="en-US" dirty="0"/>
          </a:p>
        </p:txBody>
      </p:sp>
      <p:pic>
        <p:nvPicPr>
          <p:cNvPr id="4" name="Content Placeholder 3"/>
          <p:cNvPicPr>
            <a:picLocks noGrp="1" noChangeAspect="1"/>
          </p:cNvPicPr>
          <p:nvPr>
            <p:ph idx="1"/>
          </p:nvPr>
        </p:nvPicPr>
        <p:blipFill>
          <a:blip r:embed="rId2"/>
          <a:stretch>
            <a:fillRect/>
          </a:stretch>
        </p:blipFill>
        <p:spPr>
          <a:xfrm>
            <a:off x="1122970" y="1674813"/>
            <a:ext cx="9946059" cy="4398962"/>
          </a:xfrm>
          <a:prstGeom prst="rect">
            <a:avLst/>
          </a:prstGeom>
        </p:spPr>
      </p:pic>
    </p:spTree>
    <p:extLst>
      <p:ext uri="{BB962C8B-B14F-4D97-AF65-F5344CB8AC3E}">
        <p14:creationId xmlns:p14="http://schemas.microsoft.com/office/powerpoint/2010/main" val="2271223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Now I find out what the victim typing his machine and still his data successfully.</a:t>
            </a:r>
            <a:endParaRPr lang="en-US" dirty="0"/>
          </a:p>
        </p:txBody>
      </p:sp>
      <p:pic>
        <p:nvPicPr>
          <p:cNvPr id="4" name="Content Placeholder 3"/>
          <p:cNvPicPr>
            <a:picLocks noGrp="1" noChangeAspect="1"/>
          </p:cNvPicPr>
          <p:nvPr>
            <p:ph idx="1"/>
          </p:nvPr>
        </p:nvPicPr>
        <p:blipFill>
          <a:blip r:embed="rId2"/>
          <a:stretch>
            <a:fillRect/>
          </a:stretch>
        </p:blipFill>
        <p:spPr>
          <a:xfrm>
            <a:off x="679450" y="1852498"/>
            <a:ext cx="10833100" cy="4043592"/>
          </a:xfrm>
          <a:prstGeom prst="rect">
            <a:avLst/>
          </a:prstGeom>
        </p:spPr>
      </p:pic>
    </p:spTree>
    <p:extLst>
      <p:ext uri="{BB962C8B-B14F-4D97-AF65-F5344CB8AC3E}">
        <p14:creationId xmlns:p14="http://schemas.microsoft.com/office/powerpoint/2010/main" val="48466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Once the victim put his contact no it also still his sensitive data</a:t>
            </a:r>
            <a:endParaRPr lang="en-US" dirty="0"/>
          </a:p>
        </p:txBody>
      </p:sp>
      <p:pic>
        <p:nvPicPr>
          <p:cNvPr id="4" name="Content Placeholder 3"/>
          <p:cNvPicPr>
            <a:picLocks noGrp="1" noChangeAspect="1"/>
          </p:cNvPicPr>
          <p:nvPr>
            <p:ph idx="1"/>
          </p:nvPr>
        </p:nvPicPr>
        <p:blipFill>
          <a:blip r:embed="rId2"/>
          <a:stretch>
            <a:fillRect/>
          </a:stretch>
        </p:blipFill>
        <p:spPr>
          <a:xfrm>
            <a:off x="734099" y="1674813"/>
            <a:ext cx="10723802" cy="4398962"/>
          </a:xfrm>
          <a:prstGeom prst="rect">
            <a:avLst/>
          </a:prstGeom>
        </p:spPr>
      </p:pic>
    </p:spTree>
    <p:extLst>
      <p:ext uri="{BB962C8B-B14F-4D97-AF65-F5344CB8AC3E}">
        <p14:creationId xmlns:p14="http://schemas.microsoft.com/office/powerpoint/2010/main" val="679848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xmlns="" id="{B263301E-AAC4-54C3-875F-C420CEA66FC6}"/>
              </a:ext>
            </a:extLst>
          </p:cNvPr>
          <p:cNvSpPr/>
          <p:nvPr/>
        </p:nvSpPr>
        <p:spPr>
          <a:xfrm>
            <a:off x="213360" y="2316480"/>
            <a:ext cx="3159760" cy="2174240"/>
          </a:xfrm>
          <a:prstGeom prst="round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xmlns="" id="{08AF9B1A-D322-2D57-3B9F-CD08F229030C}"/>
              </a:ext>
            </a:extLst>
          </p:cNvPr>
          <p:cNvSpPr txBox="1"/>
          <p:nvPr/>
        </p:nvSpPr>
        <p:spPr>
          <a:xfrm>
            <a:off x="121920" y="2660134"/>
            <a:ext cx="3708400" cy="923330"/>
          </a:xfrm>
          <a:prstGeom prst="rect">
            <a:avLst/>
          </a:prstGeom>
          <a:noFill/>
        </p:spPr>
        <p:txBody>
          <a:bodyPr wrap="square">
            <a:spAutoFit/>
          </a:bodyPr>
          <a:lstStyle/>
          <a:p>
            <a:r>
              <a:rPr lang="en-IN" sz="5400" dirty="0">
                <a:solidFill>
                  <a:schemeClr val="bg1"/>
                </a:solidFill>
              </a:rPr>
              <a:t>Questions ?</a:t>
            </a:r>
          </a:p>
        </p:txBody>
      </p:sp>
    </p:spTree>
    <p:extLst>
      <p:ext uri="{BB962C8B-B14F-4D97-AF65-F5344CB8AC3E}">
        <p14:creationId xmlns:p14="http://schemas.microsoft.com/office/powerpoint/2010/main" val="1594365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8844</TotalTime>
  <Words>310</Words>
  <Application>Microsoft Office PowerPoint</Application>
  <PresentationFormat>Widescreen</PresentationFormat>
  <Paragraphs>33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Google Sans</vt:lpstr>
      <vt:lpstr>Mona Sans VF</vt:lpstr>
      <vt:lpstr>Monaspace Neon</vt:lpstr>
      <vt:lpstr>BIA Template</vt:lpstr>
      <vt:lpstr>PowerPoint Presentation</vt:lpstr>
      <vt:lpstr>Agenda </vt:lpstr>
      <vt:lpstr>Research </vt:lpstr>
      <vt:lpstr>Introduction</vt:lpstr>
      <vt:lpstr>TOOLS USED</vt:lpstr>
      <vt:lpstr>Commands Used</vt:lpstr>
      <vt:lpstr>Commands Used</vt:lpstr>
      <vt:lpstr>Output for this</vt:lpstr>
      <vt:lpstr>Now we target facebook and select the number 01</vt:lpstr>
      <vt:lpstr>Now we can select the Facebook  messenger login page 04</vt:lpstr>
      <vt:lpstr>We find out the target ip http://127.0.0.1:8080</vt:lpstr>
      <vt:lpstr>Now I found the messenger login page</vt:lpstr>
      <vt:lpstr>Now I find out what the victim typing his machine and still his data successfully.</vt:lpstr>
      <vt:lpstr>Once the victim put his contact no it also still his sensitive data</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Microsoft account</cp:lastModifiedBy>
  <cp:revision>2276</cp:revision>
  <dcterms:created xsi:type="dcterms:W3CDTF">2020-12-23T13:36:00Z</dcterms:created>
  <dcterms:modified xsi:type="dcterms:W3CDTF">2026-06-26T19:59:04Z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