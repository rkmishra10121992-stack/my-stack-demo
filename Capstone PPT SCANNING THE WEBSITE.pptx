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Default Extension="jpg" ContentType="image/jpg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slides/slide40.xml" ContentType="application/vnd.openxmlformats-officedocument.presentationml.slide+xml"/>
  <Override PartName="/ppt/slides/slide41.xml" ContentType="application/vnd.openxmlformats-officedocument.presentationml.slide+xml"/>
  <Override PartName="/ppt/slides/slide42.xml" ContentType="application/vnd.openxmlformats-officedocument.presentationml.slide+xml"/>
  <Override PartName="/ppt/slides/slide43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4" r:id="rId9"/>
    <p:sldId id="265" r:id="rId10"/>
    <p:sldId id="266" r:id="rId11"/>
    <p:sldId id="267" r:id="rId12"/>
    <p:sldId id="268" r:id="rId13"/>
    <p:sldId id="298" r:id="rId14"/>
    <p:sldId id="299" r:id="rId15"/>
    <p:sldId id="300" r:id="rId16"/>
    <p:sldId id="297" r:id="rId17"/>
    <p:sldId id="295" r:id="rId18"/>
    <p:sldId id="296" r:id="rId19"/>
    <p:sldId id="301" r:id="rId20"/>
    <p:sldId id="269" r:id="rId21"/>
    <p:sldId id="271" r:id="rId22"/>
    <p:sldId id="272" r:id="rId23"/>
    <p:sldId id="273" r:id="rId24"/>
    <p:sldId id="275" r:id="rId25"/>
    <p:sldId id="276" r:id="rId26"/>
    <p:sldId id="277" r:id="rId27"/>
    <p:sldId id="278" r:id="rId28"/>
    <p:sldId id="279" r:id="rId29"/>
    <p:sldId id="280" r:id="rId30"/>
    <p:sldId id="281" r:id="rId31"/>
    <p:sldId id="282" r:id="rId32"/>
    <p:sldId id="283" r:id="rId33"/>
    <p:sldId id="293" r:id="rId34"/>
    <p:sldId id="294" r:id="rId35"/>
    <p:sldId id="289" r:id="rId36"/>
    <p:sldId id="290" r:id="rId37"/>
    <p:sldId id="291" r:id="rId38"/>
    <p:sldId id="284" r:id="rId39"/>
    <p:sldId id="285" r:id="rId40"/>
    <p:sldId id="286" r:id="rId41"/>
    <p:sldId id="302" r:id="rId42"/>
    <p:sldId id="287" r:id="rId43"/>
    <p:sldId id="288" r:id="rId44"/>
  </p:sldIdLst>
  <p:sldSz cx="12192000" cy="6858000"/>
  <p:notesSz cx="12192000" cy="6858000"/>
  <p:defaultTextStyle>
    <a:defPPr>
      <a:defRPr kern="0"/>
    </a:defPPr>
  </p:defaultTextStyle>
  <p:extLst>
    <p:ext uri="{EFAFB233-063F-42B5-8137-9DF3F51BA10A}">
      <p15:sldGuideLst xmlns:p15="http://schemas.microsoft.com/office/powerpoint/2012/main">
        <p15:guide id="1" orient="horz" pos="2880">
          <p15:clr>
            <a:srgbClr val="A4A3A4"/>
          </p15:clr>
        </p15:guide>
        <p15:guide id="2" pos="216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2D5ABB26-0587-4C30-8999-92F81FD0307C}" styleName="No Style, No Grid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>
      <p:cViewPr varScale="1">
        <p:scale>
          <a:sx n="65" d="100"/>
          <a:sy n="65" d="100"/>
        </p:scale>
        <p:origin x="700" y="48"/>
      </p:cViewPr>
      <p:guideLst>
        <p:guide orient="horz" pos="2880"/>
        <p:guide pos="216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9" Type="http://schemas.openxmlformats.org/officeDocument/2006/relationships/slide" Target="slides/slide38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34" Type="http://schemas.openxmlformats.org/officeDocument/2006/relationships/slide" Target="slides/slide33.xml"/><Relationship Id="rId42" Type="http://schemas.openxmlformats.org/officeDocument/2006/relationships/slide" Target="slides/slide41.xml"/><Relationship Id="rId47" Type="http://schemas.openxmlformats.org/officeDocument/2006/relationships/theme" Target="theme/theme1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slide" Target="slides/slide32.xml"/><Relationship Id="rId38" Type="http://schemas.openxmlformats.org/officeDocument/2006/relationships/slide" Target="slides/slide37.xml"/><Relationship Id="rId46" Type="http://schemas.openxmlformats.org/officeDocument/2006/relationships/viewProps" Target="viewProps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slide" Target="slides/slide28.xml"/><Relationship Id="rId41" Type="http://schemas.openxmlformats.org/officeDocument/2006/relationships/slide" Target="slides/slide40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slide" Target="slides/slide31.xml"/><Relationship Id="rId37" Type="http://schemas.openxmlformats.org/officeDocument/2006/relationships/slide" Target="slides/slide36.xml"/><Relationship Id="rId40" Type="http://schemas.openxmlformats.org/officeDocument/2006/relationships/slide" Target="slides/slide39.xml"/><Relationship Id="rId45" Type="http://schemas.openxmlformats.org/officeDocument/2006/relationships/presProps" Target="presProps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36" Type="http://schemas.openxmlformats.org/officeDocument/2006/relationships/slide" Target="slides/slide35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slide" Target="slides/slide30.xml"/><Relationship Id="rId44" Type="http://schemas.openxmlformats.org/officeDocument/2006/relationships/slide" Target="slides/slide43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slide" Target="slides/slide29.xml"/><Relationship Id="rId35" Type="http://schemas.openxmlformats.org/officeDocument/2006/relationships/slide" Target="slides/slide34.xml"/><Relationship Id="rId43" Type="http://schemas.openxmlformats.org/officeDocument/2006/relationships/slide" Target="slides/slide42.xml"/><Relationship Id="rId48" Type="http://schemas.openxmlformats.org/officeDocument/2006/relationships/tableStyles" Target="tableStyle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ctrTitle"/>
          </p:nvPr>
        </p:nvSpPr>
        <p:spPr>
          <a:xfrm>
            <a:off x="666750" y="588644"/>
            <a:ext cx="821690" cy="541019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3350" b="1" i="0">
                <a:solidFill>
                  <a:srgbClr val="161A3D"/>
                </a:solidFill>
                <a:latin typeface="Calibri"/>
                <a:cs typeface="Calibri"/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subTitle" idx="4"/>
          </p:nvPr>
        </p:nvSpPr>
        <p:spPr>
          <a:xfrm>
            <a:off x="1828800" y="3840480"/>
            <a:ext cx="8534400" cy="171450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/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>
              <a:defRPr sz="1100" b="0" i="0">
                <a:solidFill>
                  <a:srgbClr val="AEABAB"/>
                </a:solidFill>
                <a:latin typeface="Calibri"/>
                <a:cs typeface="Calibri"/>
              </a:defRPr>
            </a:lvl1pPr>
          </a:lstStyle>
          <a:p>
            <a:pPr marL="12700" marR="5080">
              <a:lnSpc>
                <a:spcPts val="1280"/>
              </a:lnSpc>
              <a:spcBef>
                <a:spcPts val="150"/>
              </a:spcBef>
            </a:pPr>
            <a:r>
              <a:rPr b="1" spc="-10" dirty="0">
                <a:latin typeface="Calibri"/>
                <a:cs typeface="Calibri"/>
              </a:rPr>
              <a:t>CONFIDENTIAL</a:t>
            </a:r>
            <a:r>
              <a:rPr spc="-10" dirty="0"/>
              <a:t>: </a:t>
            </a:r>
            <a:r>
              <a:rPr dirty="0"/>
              <a:t>The</a:t>
            </a:r>
            <a:r>
              <a:rPr spc="30" dirty="0"/>
              <a:t> </a:t>
            </a:r>
            <a:r>
              <a:rPr dirty="0"/>
              <a:t>information</a:t>
            </a:r>
            <a:r>
              <a:rPr spc="-5" dirty="0"/>
              <a:t> </a:t>
            </a:r>
            <a:r>
              <a:rPr dirty="0"/>
              <a:t>in this</a:t>
            </a:r>
            <a:r>
              <a:rPr spc="-5" dirty="0"/>
              <a:t> </a:t>
            </a:r>
            <a:r>
              <a:rPr dirty="0"/>
              <a:t>document</a:t>
            </a:r>
            <a:r>
              <a:rPr spc="-10" dirty="0"/>
              <a:t> belongs</a:t>
            </a:r>
            <a:r>
              <a:rPr spc="-5" dirty="0"/>
              <a:t> </a:t>
            </a:r>
            <a:r>
              <a:rPr dirty="0"/>
              <a:t>to</a:t>
            </a:r>
            <a:r>
              <a:rPr spc="-10" dirty="0"/>
              <a:t> </a:t>
            </a:r>
            <a:r>
              <a:rPr dirty="0"/>
              <a:t>Boston Institute</a:t>
            </a:r>
            <a:r>
              <a:rPr spc="-50" dirty="0"/>
              <a:t> </a:t>
            </a:r>
            <a:r>
              <a:rPr dirty="0"/>
              <a:t>of</a:t>
            </a:r>
            <a:r>
              <a:rPr spc="25" dirty="0"/>
              <a:t> </a:t>
            </a:r>
            <a:r>
              <a:rPr spc="-10" dirty="0"/>
              <a:t>Analytics</a:t>
            </a:r>
            <a:r>
              <a:rPr spc="-5" dirty="0"/>
              <a:t> </a:t>
            </a:r>
            <a:r>
              <a:rPr dirty="0"/>
              <a:t>LLC.</a:t>
            </a:r>
            <a:r>
              <a:rPr spc="10" dirty="0"/>
              <a:t> </a:t>
            </a:r>
            <a:r>
              <a:rPr dirty="0"/>
              <a:t>Any </a:t>
            </a:r>
            <a:r>
              <a:rPr spc="-10" dirty="0"/>
              <a:t>unauthorized</a:t>
            </a:r>
            <a:r>
              <a:rPr dirty="0"/>
              <a:t> sharing</a:t>
            </a:r>
            <a:r>
              <a:rPr spc="-15" dirty="0"/>
              <a:t> </a:t>
            </a:r>
            <a:r>
              <a:rPr dirty="0"/>
              <a:t>of</a:t>
            </a:r>
            <a:r>
              <a:rPr spc="25" dirty="0"/>
              <a:t> </a:t>
            </a:r>
            <a:r>
              <a:rPr spc="-20" dirty="0"/>
              <a:t>this </a:t>
            </a:r>
            <a:r>
              <a:rPr dirty="0"/>
              <a:t>material</a:t>
            </a:r>
            <a:r>
              <a:rPr spc="10" dirty="0"/>
              <a:t> </a:t>
            </a:r>
            <a:r>
              <a:rPr dirty="0"/>
              <a:t>is</a:t>
            </a:r>
            <a:r>
              <a:rPr spc="-25" dirty="0"/>
              <a:t> </a:t>
            </a:r>
            <a:r>
              <a:rPr dirty="0"/>
              <a:t>prohibited</a:t>
            </a:r>
            <a:r>
              <a:rPr spc="-25" dirty="0"/>
              <a:t> </a:t>
            </a:r>
            <a:r>
              <a:rPr dirty="0"/>
              <a:t>and</a:t>
            </a:r>
            <a:r>
              <a:rPr spc="-20" dirty="0"/>
              <a:t> </a:t>
            </a:r>
            <a:r>
              <a:rPr dirty="0"/>
              <a:t>subject</a:t>
            </a:r>
            <a:r>
              <a:rPr spc="-35" dirty="0"/>
              <a:t> </a:t>
            </a:r>
            <a:r>
              <a:rPr dirty="0"/>
              <a:t>to</a:t>
            </a:r>
            <a:r>
              <a:rPr spc="-25" dirty="0"/>
              <a:t> </a:t>
            </a:r>
            <a:r>
              <a:rPr dirty="0"/>
              <a:t>legal</a:t>
            </a:r>
            <a:r>
              <a:rPr spc="10" dirty="0"/>
              <a:t> </a:t>
            </a:r>
            <a:r>
              <a:rPr dirty="0"/>
              <a:t>action</a:t>
            </a:r>
            <a:r>
              <a:rPr spc="-25" dirty="0"/>
              <a:t> </a:t>
            </a:r>
            <a:r>
              <a:rPr dirty="0"/>
              <a:t>under</a:t>
            </a:r>
            <a:r>
              <a:rPr spc="25" dirty="0"/>
              <a:t> </a:t>
            </a:r>
            <a:r>
              <a:rPr dirty="0"/>
              <a:t>breach</a:t>
            </a:r>
            <a:r>
              <a:rPr spc="-20" dirty="0"/>
              <a:t> </a:t>
            </a:r>
            <a:r>
              <a:rPr dirty="0"/>
              <a:t>of IP</a:t>
            </a:r>
            <a:r>
              <a:rPr spc="-15" dirty="0"/>
              <a:t> </a:t>
            </a:r>
            <a:r>
              <a:rPr dirty="0"/>
              <a:t>and</a:t>
            </a:r>
            <a:r>
              <a:rPr spc="-20" dirty="0"/>
              <a:t> </a:t>
            </a:r>
            <a:r>
              <a:rPr spc="-10" dirty="0"/>
              <a:t>confidentiality</a:t>
            </a:r>
            <a:r>
              <a:rPr spc="-15" dirty="0"/>
              <a:t> </a:t>
            </a:r>
            <a:r>
              <a:rPr spc="-10" dirty="0"/>
              <a:t>clauses.</a:t>
            </a:r>
          </a:p>
        </p:txBody>
      </p:sp>
      <p:sp>
        <p:nvSpPr>
          <p:cNvPr id="5" name="Holder 5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5/30/2026</a:t>
            </a:fld>
            <a:endParaRPr lang="en-US"/>
          </a:p>
        </p:txBody>
      </p:sp>
      <p:sp>
        <p:nvSpPr>
          <p:cNvPr id="6" name="Holder 6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title"/>
          </p:nvPr>
        </p:nvSpPr>
        <p:spPr/>
        <p:txBody>
          <a:bodyPr lIns="0" tIns="0" rIns="0" bIns="0"/>
          <a:lstStyle>
            <a:lvl1pPr>
              <a:defRPr sz="3350" b="1" i="0">
                <a:solidFill>
                  <a:srgbClr val="161A3D"/>
                </a:solidFill>
                <a:latin typeface="Calibri"/>
                <a:cs typeface="Calibri"/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body" idx="1"/>
          </p:nvPr>
        </p:nvSpPr>
        <p:spPr/>
        <p:txBody>
          <a:bodyPr lIns="0" tIns="0" rIns="0" bIns="0"/>
          <a:lstStyle>
            <a:lvl1pPr>
              <a:defRPr/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>
              <a:defRPr sz="1100" b="0" i="0">
                <a:solidFill>
                  <a:srgbClr val="AEABAB"/>
                </a:solidFill>
                <a:latin typeface="Calibri"/>
                <a:cs typeface="Calibri"/>
              </a:defRPr>
            </a:lvl1pPr>
          </a:lstStyle>
          <a:p>
            <a:pPr marL="12700" marR="5080">
              <a:lnSpc>
                <a:spcPts val="1280"/>
              </a:lnSpc>
              <a:spcBef>
                <a:spcPts val="150"/>
              </a:spcBef>
            </a:pPr>
            <a:r>
              <a:rPr b="1" spc="-10" dirty="0">
                <a:latin typeface="Calibri"/>
                <a:cs typeface="Calibri"/>
              </a:rPr>
              <a:t>CONFIDENTIAL</a:t>
            </a:r>
            <a:r>
              <a:rPr spc="-10" dirty="0"/>
              <a:t>: </a:t>
            </a:r>
            <a:r>
              <a:rPr dirty="0"/>
              <a:t>The</a:t>
            </a:r>
            <a:r>
              <a:rPr spc="30" dirty="0"/>
              <a:t> </a:t>
            </a:r>
            <a:r>
              <a:rPr dirty="0"/>
              <a:t>information</a:t>
            </a:r>
            <a:r>
              <a:rPr spc="-5" dirty="0"/>
              <a:t> </a:t>
            </a:r>
            <a:r>
              <a:rPr dirty="0"/>
              <a:t>in this</a:t>
            </a:r>
            <a:r>
              <a:rPr spc="-5" dirty="0"/>
              <a:t> </a:t>
            </a:r>
            <a:r>
              <a:rPr dirty="0"/>
              <a:t>document</a:t>
            </a:r>
            <a:r>
              <a:rPr spc="-10" dirty="0"/>
              <a:t> belongs</a:t>
            </a:r>
            <a:r>
              <a:rPr spc="-5" dirty="0"/>
              <a:t> </a:t>
            </a:r>
            <a:r>
              <a:rPr dirty="0"/>
              <a:t>to</a:t>
            </a:r>
            <a:r>
              <a:rPr spc="-10" dirty="0"/>
              <a:t> </a:t>
            </a:r>
            <a:r>
              <a:rPr dirty="0"/>
              <a:t>Boston Institute</a:t>
            </a:r>
            <a:r>
              <a:rPr spc="-50" dirty="0"/>
              <a:t> </a:t>
            </a:r>
            <a:r>
              <a:rPr dirty="0"/>
              <a:t>of</a:t>
            </a:r>
            <a:r>
              <a:rPr spc="25" dirty="0"/>
              <a:t> </a:t>
            </a:r>
            <a:r>
              <a:rPr spc="-10" dirty="0"/>
              <a:t>Analytics</a:t>
            </a:r>
            <a:r>
              <a:rPr spc="-5" dirty="0"/>
              <a:t> </a:t>
            </a:r>
            <a:r>
              <a:rPr dirty="0"/>
              <a:t>LLC.</a:t>
            </a:r>
            <a:r>
              <a:rPr spc="10" dirty="0"/>
              <a:t> </a:t>
            </a:r>
            <a:r>
              <a:rPr dirty="0"/>
              <a:t>Any </a:t>
            </a:r>
            <a:r>
              <a:rPr spc="-10" dirty="0"/>
              <a:t>unauthorized</a:t>
            </a:r>
            <a:r>
              <a:rPr dirty="0"/>
              <a:t> sharing</a:t>
            </a:r>
            <a:r>
              <a:rPr spc="-15" dirty="0"/>
              <a:t> </a:t>
            </a:r>
            <a:r>
              <a:rPr dirty="0"/>
              <a:t>of</a:t>
            </a:r>
            <a:r>
              <a:rPr spc="25" dirty="0"/>
              <a:t> </a:t>
            </a:r>
            <a:r>
              <a:rPr spc="-20" dirty="0"/>
              <a:t>this </a:t>
            </a:r>
            <a:r>
              <a:rPr dirty="0"/>
              <a:t>material</a:t>
            </a:r>
            <a:r>
              <a:rPr spc="10" dirty="0"/>
              <a:t> </a:t>
            </a:r>
            <a:r>
              <a:rPr dirty="0"/>
              <a:t>is</a:t>
            </a:r>
            <a:r>
              <a:rPr spc="-25" dirty="0"/>
              <a:t> </a:t>
            </a:r>
            <a:r>
              <a:rPr dirty="0"/>
              <a:t>prohibited</a:t>
            </a:r>
            <a:r>
              <a:rPr spc="-25" dirty="0"/>
              <a:t> </a:t>
            </a:r>
            <a:r>
              <a:rPr dirty="0"/>
              <a:t>and</a:t>
            </a:r>
            <a:r>
              <a:rPr spc="-20" dirty="0"/>
              <a:t> </a:t>
            </a:r>
            <a:r>
              <a:rPr dirty="0"/>
              <a:t>subject</a:t>
            </a:r>
            <a:r>
              <a:rPr spc="-35" dirty="0"/>
              <a:t> </a:t>
            </a:r>
            <a:r>
              <a:rPr dirty="0"/>
              <a:t>to</a:t>
            </a:r>
            <a:r>
              <a:rPr spc="-25" dirty="0"/>
              <a:t> </a:t>
            </a:r>
            <a:r>
              <a:rPr dirty="0"/>
              <a:t>legal</a:t>
            </a:r>
            <a:r>
              <a:rPr spc="10" dirty="0"/>
              <a:t> </a:t>
            </a:r>
            <a:r>
              <a:rPr dirty="0"/>
              <a:t>action</a:t>
            </a:r>
            <a:r>
              <a:rPr spc="-25" dirty="0"/>
              <a:t> </a:t>
            </a:r>
            <a:r>
              <a:rPr dirty="0"/>
              <a:t>under</a:t>
            </a:r>
            <a:r>
              <a:rPr spc="25" dirty="0"/>
              <a:t> </a:t>
            </a:r>
            <a:r>
              <a:rPr dirty="0"/>
              <a:t>breach</a:t>
            </a:r>
            <a:r>
              <a:rPr spc="-20" dirty="0"/>
              <a:t> </a:t>
            </a:r>
            <a:r>
              <a:rPr dirty="0"/>
              <a:t>of IP</a:t>
            </a:r>
            <a:r>
              <a:rPr spc="-15" dirty="0"/>
              <a:t> </a:t>
            </a:r>
            <a:r>
              <a:rPr dirty="0"/>
              <a:t>and</a:t>
            </a:r>
            <a:r>
              <a:rPr spc="-20" dirty="0"/>
              <a:t> </a:t>
            </a:r>
            <a:r>
              <a:rPr spc="-10" dirty="0"/>
              <a:t>confidentiality</a:t>
            </a:r>
            <a:r>
              <a:rPr spc="-15" dirty="0"/>
              <a:t> </a:t>
            </a:r>
            <a:r>
              <a:rPr spc="-10" dirty="0"/>
              <a:t>clauses.</a:t>
            </a:r>
          </a:p>
        </p:txBody>
      </p:sp>
      <p:sp>
        <p:nvSpPr>
          <p:cNvPr id="5" name="Holder 5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5/30/2026</a:t>
            </a:fld>
            <a:endParaRPr lang="en-US"/>
          </a:p>
        </p:txBody>
      </p:sp>
      <p:sp>
        <p:nvSpPr>
          <p:cNvPr id="6" name="Holder 6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title"/>
          </p:nvPr>
        </p:nvSpPr>
        <p:spPr/>
        <p:txBody>
          <a:bodyPr lIns="0" tIns="0" rIns="0" bIns="0"/>
          <a:lstStyle>
            <a:lvl1pPr>
              <a:defRPr sz="3350" b="1" i="0">
                <a:solidFill>
                  <a:srgbClr val="161A3D"/>
                </a:solidFill>
                <a:latin typeface="Calibri"/>
                <a:cs typeface="Calibri"/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sz="half" idx="2"/>
          </p:nvPr>
        </p:nvSpPr>
        <p:spPr>
          <a:xfrm>
            <a:off x="609600" y="1577340"/>
            <a:ext cx="5303520" cy="452628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/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sz="half" idx="3"/>
          </p:nvPr>
        </p:nvSpPr>
        <p:spPr>
          <a:xfrm>
            <a:off x="6278880" y="1577340"/>
            <a:ext cx="5303520" cy="452628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/>
            </a:lvl1pPr>
          </a:lstStyle>
          <a:p>
            <a:endParaRPr/>
          </a:p>
        </p:txBody>
      </p:sp>
      <p:sp>
        <p:nvSpPr>
          <p:cNvPr id="5" name="Holder 5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>
              <a:defRPr sz="1100" b="0" i="0">
                <a:solidFill>
                  <a:srgbClr val="AEABAB"/>
                </a:solidFill>
                <a:latin typeface="Calibri"/>
                <a:cs typeface="Calibri"/>
              </a:defRPr>
            </a:lvl1pPr>
          </a:lstStyle>
          <a:p>
            <a:pPr marL="12700" marR="5080">
              <a:lnSpc>
                <a:spcPts val="1280"/>
              </a:lnSpc>
              <a:spcBef>
                <a:spcPts val="150"/>
              </a:spcBef>
            </a:pPr>
            <a:r>
              <a:rPr b="1" spc="-10" dirty="0">
                <a:latin typeface="Calibri"/>
                <a:cs typeface="Calibri"/>
              </a:rPr>
              <a:t>CONFIDENTIAL</a:t>
            </a:r>
            <a:r>
              <a:rPr spc="-10" dirty="0"/>
              <a:t>: </a:t>
            </a:r>
            <a:r>
              <a:rPr dirty="0"/>
              <a:t>The</a:t>
            </a:r>
            <a:r>
              <a:rPr spc="30" dirty="0"/>
              <a:t> </a:t>
            </a:r>
            <a:r>
              <a:rPr dirty="0"/>
              <a:t>information</a:t>
            </a:r>
            <a:r>
              <a:rPr spc="-5" dirty="0"/>
              <a:t> </a:t>
            </a:r>
            <a:r>
              <a:rPr dirty="0"/>
              <a:t>in this</a:t>
            </a:r>
            <a:r>
              <a:rPr spc="-5" dirty="0"/>
              <a:t> </a:t>
            </a:r>
            <a:r>
              <a:rPr dirty="0"/>
              <a:t>document</a:t>
            </a:r>
            <a:r>
              <a:rPr spc="-10" dirty="0"/>
              <a:t> belongs</a:t>
            </a:r>
            <a:r>
              <a:rPr spc="-5" dirty="0"/>
              <a:t> </a:t>
            </a:r>
            <a:r>
              <a:rPr dirty="0"/>
              <a:t>to</a:t>
            </a:r>
            <a:r>
              <a:rPr spc="-10" dirty="0"/>
              <a:t> </a:t>
            </a:r>
            <a:r>
              <a:rPr dirty="0"/>
              <a:t>Boston Institute</a:t>
            </a:r>
            <a:r>
              <a:rPr spc="-50" dirty="0"/>
              <a:t> </a:t>
            </a:r>
            <a:r>
              <a:rPr dirty="0"/>
              <a:t>of</a:t>
            </a:r>
            <a:r>
              <a:rPr spc="25" dirty="0"/>
              <a:t> </a:t>
            </a:r>
            <a:r>
              <a:rPr spc="-10" dirty="0"/>
              <a:t>Analytics</a:t>
            </a:r>
            <a:r>
              <a:rPr spc="-5" dirty="0"/>
              <a:t> </a:t>
            </a:r>
            <a:r>
              <a:rPr dirty="0"/>
              <a:t>LLC.</a:t>
            </a:r>
            <a:r>
              <a:rPr spc="10" dirty="0"/>
              <a:t> </a:t>
            </a:r>
            <a:r>
              <a:rPr dirty="0"/>
              <a:t>Any </a:t>
            </a:r>
            <a:r>
              <a:rPr spc="-10" dirty="0"/>
              <a:t>unauthorized</a:t>
            </a:r>
            <a:r>
              <a:rPr dirty="0"/>
              <a:t> sharing</a:t>
            </a:r>
            <a:r>
              <a:rPr spc="-15" dirty="0"/>
              <a:t> </a:t>
            </a:r>
            <a:r>
              <a:rPr dirty="0"/>
              <a:t>of</a:t>
            </a:r>
            <a:r>
              <a:rPr spc="25" dirty="0"/>
              <a:t> </a:t>
            </a:r>
            <a:r>
              <a:rPr spc="-20" dirty="0"/>
              <a:t>this </a:t>
            </a:r>
            <a:r>
              <a:rPr dirty="0"/>
              <a:t>material</a:t>
            </a:r>
            <a:r>
              <a:rPr spc="10" dirty="0"/>
              <a:t> </a:t>
            </a:r>
            <a:r>
              <a:rPr dirty="0"/>
              <a:t>is</a:t>
            </a:r>
            <a:r>
              <a:rPr spc="-25" dirty="0"/>
              <a:t> </a:t>
            </a:r>
            <a:r>
              <a:rPr dirty="0"/>
              <a:t>prohibited</a:t>
            </a:r>
            <a:r>
              <a:rPr spc="-25" dirty="0"/>
              <a:t> </a:t>
            </a:r>
            <a:r>
              <a:rPr dirty="0"/>
              <a:t>and</a:t>
            </a:r>
            <a:r>
              <a:rPr spc="-20" dirty="0"/>
              <a:t> </a:t>
            </a:r>
            <a:r>
              <a:rPr dirty="0"/>
              <a:t>subject</a:t>
            </a:r>
            <a:r>
              <a:rPr spc="-35" dirty="0"/>
              <a:t> </a:t>
            </a:r>
            <a:r>
              <a:rPr dirty="0"/>
              <a:t>to</a:t>
            </a:r>
            <a:r>
              <a:rPr spc="-25" dirty="0"/>
              <a:t> </a:t>
            </a:r>
            <a:r>
              <a:rPr dirty="0"/>
              <a:t>legal</a:t>
            </a:r>
            <a:r>
              <a:rPr spc="10" dirty="0"/>
              <a:t> </a:t>
            </a:r>
            <a:r>
              <a:rPr dirty="0"/>
              <a:t>action</a:t>
            </a:r>
            <a:r>
              <a:rPr spc="-25" dirty="0"/>
              <a:t> </a:t>
            </a:r>
            <a:r>
              <a:rPr dirty="0"/>
              <a:t>under</a:t>
            </a:r>
            <a:r>
              <a:rPr spc="25" dirty="0"/>
              <a:t> </a:t>
            </a:r>
            <a:r>
              <a:rPr dirty="0"/>
              <a:t>breach</a:t>
            </a:r>
            <a:r>
              <a:rPr spc="-20" dirty="0"/>
              <a:t> </a:t>
            </a:r>
            <a:r>
              <a:rPr dirty="0"/>
              <a:t>of IP</a:t>
            </a:r>
            <a:r>
              <a:rPr spc="-15" dirty="0"/>
              <a:t> </a:t>
            </a:r>
            <a:r>
              <a:rPr dirty="0"/>
              <a:t>and</a:t>
            </a:r>
            <a:r>
              <a:rPr spc="-20" dirty="0"/>
              <a:t> </a:t>
            </a:r>
            <a:r>
              <a:rPr spc="-10" dirty="0"/>
              <a:t>confidentiality</a:t>
            </a:r>
            <a:r>
              <a:rPr spc="-15" dirty="0"/>
              <a:t> </a:t>
            </a:r>
            <a:r>
              <a:rPr spc="-10" dirty="0"/>
              <a:t>clauses.</a:t>
            </a:r>
          </a:p>
        </p:txBody>
      </p:sp>
      <p:sp>
        <p:nvSpPr>
          <p:cNvPr id="6" name="Holder 6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5/30/2026</a:t>
            </a:fld>
            <a:endParaRPr lang="en-US"/>
          </a:p>
        </p:txBody>
      </p:sp>
      <p:sp>
        <p:nvSpPr>
          <p:cNvPr id="7" name="Holder 7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title"/>
          </p:nvPr>
        </p:nvSpPr>
        <p:spPr/>
        <p:txBody>
          <a:bodyPr lIns="0" tIns="0" rIns="0" bIns="0"/>
          <a:lstStyle>
            <a:lvl1pPr>
              <a:defRPr sz="3350" b="1" i="0">
                <a:solidFill>
                  <a:srgbClr val="161A3D"/>
                </a:solidFill>
                <a:latin typeface="Calibri"/>
                <a:cs typeface="Calibri"/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>
              <a:defRPr sz="1100" b="0" i="0">
                <a:solidFill>
                  <a:srgbClr val="AEABAB"/>
                </a:solidFill>
                <a:latin typeface="Calibri"/>
                <a:cs typeface="Calibri"/>
              </a:defRPr>
            </a:lvl1pPr>
          </a:lstStyle>
          <a:p>
            <a:pPr marL="12700" marR="5080">
              <a:lnSpc>
                <a:spcPts val="1280"/>
              </a:lnSpc>
              <a:spcBef>
                <a:spcPts val="150"/>
              </a:spcBef>
            </a:pPr>
            <a:r>
              <a:rPr b="1" spc="-10" dirty="0">
                <a:latin typeface="Calibri"/>
                <a:cs typeface="Calibri"/>
              </a:rPr>
              <a:t>CONFIDENTIAL</a:t>
            </a:r>
            <a:r>
              <a:rPr spc="-10" dirty="0"/>
              <a:t>: </a:t>
            </a:r>
            <a:r>
              <a:rPr dirty="0"/>
              <a:t>The</a:t>
            </a:r>
            <a:r>
              <a:rPr spc="30" dirty="0"/>
              <a:t> </a:t>
            </a:r>
            <a:r>
              <a:rPr dirty="0"/>
              <a:t>information</a:t>
            </a:r>
            <a:r>
              <a:rPr spc="-5" dirty="0"/>
              <a:t> </a:t>
            </a:r>
            <a:r>
              <a:rPr dirty="0"/>
              <a:t>in this</a:t>
            </a:r>
            <a:r>
              <a:rPr spc="-5" dirty="0"/>
              <a:t> </a:t>
            </a:r>
            <a:r>
              <a:rPr dirty="0"/>
              <a:t>document</a:t>
            </a:r>
            <a:r>
              <a:rPr spc="-10" dirty="0"/>
              <a:t> belongs</a:t>
            </a:r>
            <a:r>
              <a:rPr spc="-5" dirty="0"/>
              <a:t> </a:t>
            </a:r>
            <a:r>
              <a:rPr dirty="0"/>
              <a:t>to</a:t>
            </a:r>
            <a:r>
              <a:rPr spc="-10" dirty="0"/>
              <a:t> </a:t>
            </a:r>
            <a:r>
              <a:rPr dirty="0"/>
              <a:t>Boston Institute</a:t>
            </a:r>
            <a:r>
              <a:rPr spc="-50" dirty="0"/>
              <a:t> </a:t>
            </a:r>
            <a:r>
              <a:rPr dirty="0"/>
              <a:t>of</a:t>
            </a:r>
            <a:r>
              <a:rPr spc="25" dirty="0"/>
              <a:t> </a:t>
            </a:r>
            <a:r>
              <a:rPr spc="-10" dirty="0"/>
              <a:t>Analytics</a:t>
            </a:r>
            <a:r>
              <a:rPr spc="-5" dirty="0"/>
              <a:t> </a:t>
            </a:r>
            <a:r>
              <a:rPr dirty="0"/>
              <a:t>LLC.</a:t>
            </a:r>
            <a:r>
              <a:rPr spc="10" dirty="0"/>
              <a:t> </a:t>
            </a:r>
            <a:r>
              <a:rPr dirty="0"/>
              <a:t>Any </a:t>
            </a:r>
            <a:r>
              <a:rPr spc="-10" dirty="0"/>
              <a:t>unauthorized</a:t>
            </a:r>
            <a:r>
              <a:rPr dirty="0"/>
              <a:t> sharing</a:t>
            </a:r>
            <a:r>
              <a:rPr spc="-15" dirty="0"/>
              <a:t> </a:t>
            </a:r>
            <a:r>
              <a:rPr dirty="0"/>
              <a:t>of</a:t>
            </a:r>
            <a:r>
              <a:rPr spc="25" dirty="0"/>
              <a:t> </a:t>
            </a:r>
            <a:r>
              <a:rPr spc="-20" dirty="0"/>
              <a:t>this </a:t>
            </a:r>
            <a:r>
              <a:rPr dirty="0"/>
              <a:t>material</a:t>
            </a:r>
            <a:r>
              <a:rPr spc="10" dirty="0"/>
              <a:t> </a:t>
            </a:r>
            <a:r>
              <a:rPr dirty="0"/>
              <a:t>is</a:t>
            </a:r>
            <a:r>
              <a:rPr spc="-25" dirty="0"/>
              <a:t> </a:t>
            </a:r>
            <a:r>
              <a:rPr dirty="0"/>
              <a:t>prohibited</a:t>
            </a:r>
            <a:r>
              <a:rPr spc="-25" dirty="0"/>
              <a:t> </a:t>
            </a:r>
            <a:r>
              <a:rPr dirty="0"/>
              <a:t>and</a:t>
            </a:r>
            <a:r>
              <a:rPr spc="-20" dirty="0"/>
              <a:t> </a:t>
            </a:r>
            <a:r>
              <a:rPr dirty="0"/>
              <a:t>subject</a:t>
            </a:r>
            <a:r>
              <a:rPr spc="-35" dirty="0"/>
              <a:t> </a:t>
            </a:r>
            <a:r>
              <a:rPr dirty="0"/>
              <a:t>to</a:t>
            </a:r>
            <a:r>
              <a:rPr spc="-25" dirty="0"/>
              <a:t> </a:t>
            </a:r>
            <a:r>
              <a:rPr dirty="0"/>
              <a:t>legal</a:t>
            </a:r>
            <a:r>
              <a:rPr spc="10" dirty="0"/>
              <a:t> </a:t>
            </a:r>
            <a:r>
              <a:rPr dirty="0"/>
              <a:t>action</a:t>
            </a:r>
            <a:r>
              <a:rPr spc="-25" dirty="0"/>
              <a:t> </a:t>
            </a:r>
            <a:r>
              <a:rPr dirty="0"/>
              <a:t>under</a:t>
            </a:r>
            <a:r>
              <a:rPr spc="25" dirty="0"/>
              <a:t> </a:t>
            </a:r>
            <a:r>
              <a:rPr dirty="0"/>
              <a:t>breach</a:t>
            </a:r>
            <a:r>
              <a:rPr spc="-20" dirty="0"/>
              <a:t> </a:t>
            </a:r>
            <a:r>
              <a:rPr dirty="0"/>
              <a:t>of IP</a:t>
            </a:r>
            <a:r>
              <a:rPr spc="-15" dirty="0"/>
              <a:t> </a:t>
            </a:r>
            <a:r>
              <a:rPr dirty="0"/>
              <a:t>and</a:t>
            </a:r>
            <a:r>
              <a:rPr spc="-20" dirty="0"/>
              <a:t> </a:t>
            </a:r>
            <a:r>
              <a:rPr spc="-10" dirty="0"/>
              <a:t>confidentiality</a:t>
            </a:r>
            <a:r>
              <a:rPr spc="-15" dirty="0"/>
              <a:t> </a:t>
            </a:r>
            <a:r>
              <a:rPr spc="-10" dirty="0"/>
              <a:t>clauses.</a:t>
            </a:r>
          </a:p>
        </p:txBody>
      </p:sp>
      <p:sp>
        <p:nvSpPr>
          <p:cNvPr id="4" name="Holder 4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5/30/2026</a:t>
            </a:fld>
            <a:endParaRPr lang="en-US"/>
          </a:p>
        </p:txBody>
      </p:sp>
      <p:sp>
        <p:nvSpPr>
          <p:cNvPr id="5" name="Holder 5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>
              <a:defRPr sz="1100" b="0" i="0">
                <a:solidFill>
                  <a:srgbClr val="AEABAB"/>
                </a:solidFill>
                <a:latin typeface="Calibri"/>
                <a:cs typeface="Calibri"/>
              </a:defRPr>
            </a:lvl1pPr>
          </a:lstStyle>
          <a:p>
            <a:pPr marL="12700" marR="5080">
              <a:lnSpc>
                <a:spcPts val="1280"/>
              </a:lnSpc>
              <a:spcBef>
                <a:spcPts val="150"/>
              </a:spcBef>
            </a:pPr>
            <a:r>
              <a:rPr b="1" spc="-10" dirty="0">
                <a:latin typeface="Calibri"/>
                <a:cs typeface="Calibri"/>
              </a:rPr>
              <a:t>CONFIDENTIAL</a:t>
            </a:r>
            <a:r>
              <a:rPr spc="-10" dirty="0"/>
              <a:t>: </a:t>
            </a:r>
            <a:r>
              <a:rPr dirty="0"/>
              <a:t>The</a:t>
            </a:r>
            <a:r>
              <a:rPr spc="30" dirty="0"/>
              <a:t> </a:t>
            </a:r>
            <a:r>
              <a:rPr dirty="0"/>
              <a:t>information</a:t>
            </a:r>
            <a:r>
              <a:rPr spc="-5" dirty="0"/>
              <a:t> </a:t>
            </a:r>
            <a:r>
              <a:rPr dirty="0"/>
              <a:t>in this</a:t>
            </a:r>
            <a:r>
              <a:rPr spc="-5" dirty="0"/>
              <a:t> </a:t>
            </a:r>
            <a:r>
              <a:rPr dirty="0"/>
              <a:t>document</a:t>
            </a:r>
            <a:r>
              <a:rPr spc="-10" dirty="0"/>
              <a:t> belongs</a:t>
            </a:r>
            <a:r>
              <a:rPr spc="-5" dirty="0"/>
              <a:t> </a:t>
            </a:r>
            <a:r>
              <a:rPr dirty="0"/>
              <a:t>to</a:t>
            </a:r>
            <a:r>
              <a:rPr spc="-10" dirty="0"/>
              <a:t> </a:t>
            </a:r>
            <a:r>
              <a:rPr dirty="0"/>
              <a:t>Boston Institute</a:t>
            </a:r>
            <a:r>
              <a:rPr spc="-50" dirty="0"/>
              <a:t> </a:t>
            </a:r>
            <a:r>
              <a:rPr dirty="0"/>
              <a:t>of</a:t>
            </a:r>
            <a:r>
              <a:rPr spc="25" dirty="0"/>
              <a:t> </a:t>
            </a:r>
            <a:r>
              <a:rPr spc="-10" dirty="0"/>
              <a:t>Analytics</a:t>
            </a:r>
            <a:r>
              <a:rPr spc="-5" dirty="0"/>
              <a:t> </a:t>
            </a:r>
            <a:r>
              <a:rPr dirty="0"/>
              <a:t>LLC.</a:t>
            </a:r>
            <a:r>
              <a:rPr spc="10" dirty="0"/>
              <a:t> </a:t>
            </a:r>
            <a:r>
              <a:rPr dirty="0"/>
              <a:t>Any </a:t>
            </a:r>
            <a:r>
              <a:rPr spc="-10" dirty="0"/>
              <a:t>unauthorized</a:t>
            </a:r>
            <a:r>
              <a:rPr dirty="0"/>
              <a:t> sharing</a:t>
            </a:r>
            <a:r>
              <a:rPr spc="-15" dirty="0"/>
              <a:t> </a:t>
            </a:r>
            <a:r>
              <a:rPr dirty="0"/>
              <a:t>of</a:t>
            </a:r>
            <a:r>
              <a:rPr spc="25" dirty="0"/>
              <a:t> </a:t>
            </a:r>
            <a:r>
              <a:rPr spc="-20" dirty="0"/>
              <a:t>this </a:t>
            </a:r>
            <a:r>
              <a:rPr dirty="0"/>
              <a:t>material</a:t>
            </a:r>
            <a:r>
              <a:rPr spc="10" dirty="0"/>
              <a:t> </a:t>
            </a:r>
            <a:r>
              <a:rPr dirty="0"/>
              <a:t>is</a:t>
            </a:r>
            <a:r>
              <a:rPr spc="-25" dirty="0"/>
              <a:t> </a:t>
            </a:r>
            <a:r>
              <a:rPr dirty="0"/>
              <a:t>prohibited</a:t>
            </a:r>
            <a:r>
              <a:rPr spc="-25" dirty="0"/>
              <a:t> </a:t>
            </a:r>
            <a:r>
              <a:rPr dirty="0"/>
              <a:t>and</a:t>
            </a:r>
            <a:r>
              <a:rPr spc="-20" dirty="0"/>
              <a:t> </a:t>
            </a:r>
            <a:r>
              <a:rPr dirty="0"/>
              <a:t>subject</a:t>
            </a:r>
            <a:r>
              <a:rPr spc="-35" dirty="0"/>
              <a:t> </a:t>
            </a:r>
            <a:r>
              <a:rPr dirty="0"/>
              <a:t>to</a:t>
            </a:r>
            <a:r>
              <a:rPr spc="-25" dirty="0"/>
              <a:t> </a:t>
            </a:r>
            <a:r>
              <a:rPr dirty="0"/>
              <a:t>legal</a:t>
            </a:r>
            <a:r>
              <a:rPr spc="10" dirty="0"/>
              <a:t> </a:t>
            </a:r>
            <a:r>
              <a:rPr dirty="0"/>
              <a:t>action</a:t>
            </a:r>
            <a:r>
              <a:rPr spc="-25" dirty="0"/>
              <a:t> </a:t>
            </a:r>
            <a:r>
              <a:rPr dirty="0"/>
              <a:t>under</a:t>
            </a:r>
            <a:r>
              <a:rPr spc="25" dirty="0"/>
              <a:t> </a:t>
            </a:r>
            <a:r>
              <a:rPr dirty="0"/>
              <a:t>breach</a:t>
            </a:r>
            <a:r>
              <a:rPr spc="-20" dirty="0"/>
              <a:t> </a:t>
            </a:r>
            <a:r>
              <a:rPr dirty="0"/>
              <a:t>of IP</a:t>
            </a:r>
            <a:r>
              <a:rPr spc="-15" dirty="0"/>
              <a:t> </a:t>
            </a:r>
            <a:r>
              <a:rPr dirty="0"/>
              <a:t>and</a:t>
            </a:r>
            <a:r>
              <a:rPr spc="-20" dirty="0"/>
              <a:t> </a:t>
            </a:r>
            <a:r>
              <a:rPr spc="-10" dirty="0"/>
              <a:t>confidentiality</a:t>
            </a:r>
            <a:r>
              <a:rPr spc="-15" dirty="0"/>
              <a:t> </a:t>
            </a:r>
            <a:r>
              <a:rPr spc="-10" dirty="0"/>
              <a:t>clauses.</a:t>
            </a:r>
          </a:p>
        </p:txBody>
      </p:sp>
      <p:sp>
        <p:nvSpPr>
          <p:cNvPr id="3" name="Holder 3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5/30/2026</a:t>
            </a:fld>
            <a:endParaRPr lang="en-US"/>
          </a:p>
        </p:txBody>
      </p:sp>
      <p:sp>
        <p:nvSpPr>
          <p:cNvPr id="4" name="Holder 4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3.xml"/><Relationship Id="rId7" Type="http://schemas.openxmlformats.org/officeDocument/2006/relationships/image" Target="../media/image1.png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theme" Target="../theme/theme1.xml"/><Relationship Id="rId5" Type="http://schemas.openxmlformats.org/officeDocument/2006/relationships/slideLayout" Target="../slideLayouts/slideLayout5.xml"/><Relationship Id="rId4" Type="http://schemas.openxmlformats.org/officeDocument/2006/relationships/slideLayout" Target="../slideLayouts/slideLayout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6" name="bg object 16"/>
          <p:cNvPicPr/>
          <p:nvPr/>
        </p:nvPicPr>
        <p:blipFill>
          <a:blip r:embed="rId7" cstate="print"/>
          <a:stretch>
            <a:fillRect/>
          </a:stretch>
        </p:blipFill>
        <p:spPr>
          <a:xfrm>
            <a:off x="9504717" y="6123420"/>
            <a:ext cx="1998567" cy="535709"/>
          </a:xfrm>
          <a:prstGeom prst="rect">
            <a:avLst/>
          </a:prstGeom>
        </p:spPr>
      </p:pic>
      <p:sp>
        <p:nvSpPr>
          <p:cNvPr id="2" name="Holder 2"/>
          <p:cNvSpPr>
            <a:spLocks noGrp="1"/>
          </p:cNvSpPr>
          <p:nvPr>
            <p:ph type="title"/>
          </p:nvPr>
        </p:nvSpPr>
        <p:spPr>
          <a:xfrm>
            <a:off x="666750" y="588644"/>
            <a:ext cx="1380489" cy="541019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3350" b="1" i="0">
                <a:solidFill>
                  <a:srgbClr val="161A3D"/>
                </a:solidFill>
                <a:latin typeface="Calibri"/>
                <a:cs typeface="Calibri"/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body" idx="1"/>
          </p:nvPr>
        </p:nvSpPr>
        <p:spPr>
          <a:xfrm>
            <a:off x="609600" y="1577340"/>
            <a:ext cx="10972800" cy="452628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/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type="ftr" sz="quarter" idx="5"/>
          </p:nvPr>
        </p:nvSpPr>
        <p:spPr>
          <a:xfrm>
            <a:off x="666750" y="6215246"/>
            <a:ext cx="7212965" cy="362584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1100" b="0" i="0">
                <a:solidFill>
                  <a:srgbClr val="AEABAB"/>
                </a:solidFill>
                <a:latin typeface="Calibri"/>
                <a:cs typeface="Calibri"/>
              </a:defRPr>
            </a:lvl1pPr>
          </a:lstStyle>
          <a:p>
            <a:pPr marL="12700" marR="5080">
              <a:lnSpc>
                <a:spcPts val="1280"/>
              </a:lnSpc>
              <a:spcBef>
                <a:spcPts val="150"/>
              </a:spcBef>
            </a:pPr>
            <a:r>
              <a:rPr b="1" spc="-10" dirty="0">
                <a:latin typeface="Calibri"/>
                <a:cs typeface="Calibri"/>
              </a:rPr>
              <a:t>CONFIDENTIAL</a:t>
            </a:r>
            <a:r>
              <a:rPr spc="-10" dirty="0"/>
              <a:t>: </a:t>
            </a:r>
            <a:r>
              <a:rPr dirty="0"/>
              <a:t>The</a:t>
            </a:r>
            <a:r>
              <a:rPr spc="30" dirty="0"/>
              <a:t> </a:t>
            </a:r>
            <a:r>
              <a:rPr dirty="0"/>
              <a:t>information</a:t>
            </a:r>
            <a:r>
              <a:rPr spc="-5" dirty="0"/>
              <a:t> </a:t>
            </a:r>
            <a:r>
              <a:rPr dirty="0"/>
              <a:t>in this</a:t>
            </a:r>
            <a:r>
              <a:rPr spc="-5" dirty="0"/>
              <a:t> </a:t>
            </a:r>
            <a:r>
              <a:rPr dirty="0"/>
              <a:t>document</a:t>
            </a:r>
            <a:r>
              <a:rPr spc="-10" dirty="0"/>
              <a:t> belongs</a:t>
            </a:r>
            <a:r>
              <a:rPr spc="-5" dirty="0"/>
              <a:t> </a:t>
            </a:r>
            <a:r>
              <a:rPr dirty="0"/>
              <a:t>to</a:t>
            </a:r>
            <a:r>
              <a:rPr spc="-10" dirty="0"/>
              <a:t> </a:t>
            </a:r>
            <a:r>
              <a:rPr dirty="0"/>
              <a:t>Boston Institute</a:t>
            </a:r>
            <a:r>
              <a:rPr spc="-50" dirty="0"/>
              <a:t> </a:t>
            </a:r>
            <a:r>
              <a:rPr dirty="0"/>
              <a:t>of</a:t>
            </a:r>
            <a:r>
              <a:rPr spc="25" dirty="0"/>
              <a:t> </a:t>
            </a:r>
            <a:r>
              <a:rPr spc="-10" dirty="0"/>
              <a:t>Analytics</a:t>
            </a:r>
            <a:r>
              <a:rPr spc="-5" dirty="0"/>
              <a:t> </a:t>
            </a:r>
            <a:r>
              <a:rPr dirty="0"/>
              <a:t>LLC.</a:t>
            </a:r>
            <a:r>
              <a:rPr spc="10" dirty="0"/>
              <a:t> </a:t>
            </a:r>
            <a:r>
              <a:rPr dirty="0"/>
              <a:t>Any </a:t>
            </a:r>
            <a:r>
              <a:rPr spc="-10" dirty="0"/>
              <a:t>unauthorized</a:t>
            </a:r>
            <a:r>
              <a:rPr dirty="0"/>
              <a:t> sharing</a:t>
            </a:r>
            <a:r>
              <a:rPr spc="-15" dirty="0"/>
              <a:t> </a:t>
            </a:r>
            <a:r>
              <a:rPr dirty="0"/>
              <a:t>of</a:t>
            </a:r>
            <a:r>
              <a:rPr spc="25" dirty="0"/>
              <a:t> </a:t>
            </a:r>
            <a:r>
              <a:rPr spc="-20" dirty="0"/>
              <a:t>this </a:t>
            </a:r>
            <a:r>
              <a:rPr dirty="0"/>
              <a:t>material</a:t>
            </a:r>
            <a:r>
              <a:rPr spc="10" dirty="0"/>
              <a:t> </a:t>
            </a:r>
            <a:r>
              <a:rPr dirty="0"/>
              <a:t>is</a:t>
            </a:r>
            <a:r>
              <a:rPr spc="-25" dirty="0"/>
              <a:t> </a:t>
            </a:r>
            <a:r>
              <a:rPr dirty="0"/>
              <a:t>prohibited</a:t>
            </a:r>
            <a:r>
              <a:rPr spc="-25" dirty="0"/>
              <a:t> </a:t>
            </a:r>
            <a:r>
              <a:rPr dirty="0"/>
              <a:t>and</a:t>
            </a:r>
            <a:r>
              <a:rPr spc="-20" dirty="0"/>
              <a:t> </a:t>
            </a:r>
            <a:r>
              <a:rPr dirty="0"/>
              <a:t>subject</a:t>
            </a:r>
            <a:r>
              <a:rPr spc="-35" dirty="0"/>
              <a:t> </a:t>
            </a:r>
            <a:r>
              <a:rPr dirty="0"/>
              <a:t>to</a:t>
            </a:r>
            <a:r>
              <a:rPr spc="-25" dirty="0"/>
              <a:t> </a:t>
            </a:r>
            <a:r>
              <a:rPr dirty="0"/>
              <a:t>legal</a:t>
            </a:r>
            <a:r>
              <a:rPr spc="10" dirty="0"/>
              <a:t> </a:t>
            </a:r>
            <a:r>
              <a:rPr dirty="0"/>
              <a:t>action</a:t>
            </a:r>
            <a:r>
              <a:rPr spc="-25" dirty="0"/>
              <a:t> </a:t>
            </a:r>
            <a:r>
              <a:rPr dirty="0"/>
              <a:t>under</a:t>
            </a:r>
            <a:r>
              <a:rPr spc="25" dirty="0"/>
              <a:t> </a:t>
            </a:r>
            <a:r>
              <a:rPr dirty="0"/>
              <a:t>breach</a:t>
            </a:r>
            <a:r>
              <a:rPr spc="-20" dirty="0"/>
              <a:t> </a:t>
            </a:r>
            <a:r>
              <a:rPr dirty="0"/>
              <a:t>of IP</a:t>
            </a:r>
            <a:r>
              <a:rPr spc="-15" dirty="0"/>
              <a:t> </a:t>
            </a:r>
            <a:r>
              <a:rPr dirty="0"/>
              <a:t>and</a:t>
            </a:r>
            <a:r>
              <a:rPr spc="-20" dirty="0"/>
              <a:t> </a:t>
            </a:r>
            <a:r>
              <a:rPr spc="-10" dirty="0"/>
              <a:t>confidentiality</a:t>
            </a:r>
            <a:r>
              <a:rPr spc="-15" dirty="0"/>
              <a:t> </a:t>
            </a:r>
            <a:r>
              <a:rPr spc="-10" dirty="0"/>
              <a:t>clauses.</a:t>
            </a:r>
          </a:p>
        </p:txBody>
      </p:sp>
      <p:sp>
        <p:nvSpPr>
          <p:cNvPr id="5" name="Holder 5"/>
          <p:cNvSpPr>
            <a:spLocks noGrp="1"/>
          </p:cNvSpPr>
          <p:nvPr>
            <p:ph type="dt" sz="half" idx="6"/>
          </p:nvPr>
        </p:nvSpPr>
        <p:spPr>
          <a:xfrm>
            <a:off x="609600" y="6377940"/>
            <a:ext cx="2804160" cy="34290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5/30/2026</a:t>
            </a:fld>
            <a:endParaRPr lang="en-US"/>
          </a:p>
        </p:txBody>
      </p:sp>
      <p:sp>
        <p:nvSpPr>
          <p:cNvPr id="6" name="Holder 6"/>
          <p:cNvSpPr>
            <a:spLocks noGrp="1"/>
          </p:cNvSpPr>
          <p:nvPr>
            <p:ph type="sldNum" sz="quarter" idx="7"/>
          </p:nvPr>
        </p:nvSpPr>
        <p:spPr>
          <a:xfrm>
            <a:off x="8778240" y="6377940"/>
            <a:ext cx="2804160" cy="34290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‹#›</a:t>
            </a:fld>
            <a:endParaRPr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</p:sldLayoutIdLst>
  <p:txStyles>
    <p:titleStyle>
      <a:lvl1pPr>
        <a:defRPr>
          <a:latin typeface="+mj-lt"/>
          <a:ea typeface="+mj-ea"/>
          <a:cs typeface="+mj-cs"/>
        </a:defRPr>
      </a:lvl1pPr>
    </p:titleStyle>
    <p:bodyStyle>
      <a:lvl1pPr marL="0">
        <a:defRPr>
          <a:latin typeface="+mn-lt"/>
          <a:ea typeface="+mn-ea"/>
          <a:cs typeface="+mn-cs"/>
        </a:defRPr>
      </a:lvl1pPr>
      <a:lvl2pPr marL="457200">
        <a:defRPr>
          <a:latin typeface="+mn-lt"/>
          <a:ea typeface="+mn-ea"/>
          <a:cs typeface="+mn-cs"/>
        </a:defRPr>
      </a:lvl2pPr>
      <a:lvl3pPr marL="914400">
        <a:defRPr>
          <a:latin typeface="+mn-lt"/>
          <a:ea typeface="+mn-ea"/>
          <a:cs typeface="+mn-cs"/>
        </a:defRPr>
      </a:lvl3pPr>
      <a:lvl4pPr marL="1371600">
        <a:defRPr>
          <a:latin typeface="+mn-lt"/>
          <a:ea typeface="+mn-ea"/>
          <a:cs typeface="+mn-cs"/>
        </a:defRPr>
      </a:lvl4pPr>
      <a:lvl5pPr marL="1828800">
        <a:defRPr>
          <a:latin typeface="+mn-lt"/>
          <a:ea typeface="+mn-ea"/>
          <a:cs typeface="+mn-cs"/>
        </a:defRPr>
      </a:lvl5pPr>
      <a:lvl6pPr marL="2286000">
        <a:defRPr>
          <a:latin typeface="+mn-lt"/>
          <a:ea typeface="+mn-ea"/>
          <a:cs typeface="+mn-cs"/>
        </a:defRPr>
      </a:lvl6pPr>
      <a:lvl7pPr marL="2743200">
        <a:defRPr>
          <a:latin typeface="+mn-lt"/>
          <a:ea typeface="+mn-ea"/>
          <a:cs typeface="+mn-cs"/>
        </a:defRPr>
      </a:lvl7pPr>
      <a:lvl8pPr marL="3200400">
        <a:defRPr>
          <a:latin typeface="+mn-lt"/>
          <a:ea typeface="+mn-ea"/>
          <a:cs typeface="+mn-cs"/>
        </a:defRPr>
      </a:lvl8pPr>
      <a:lvl9pPr marL="3657600">
        <a:defRPr>
          <a:latin typeface="+mn-lt"/>
          <a:ea typeface="+mn-ea"/>
          <a:cs typeface="+mn-cs"/>
        </a:defRPr>
      </a:lvl9pPr>
    </p:bodyStyle>
    <p:otherStyle>
      <a:lvl1pPr marL="0">
        <a:defRPr>
          <a:latin typeface="+mn-lt"/>
          <a:ea typeface="+mn-ea"/>
          <a:cs typeface="+mn-cs"/>
        </a:defRPr>
      </a:lvl1pPr>
      <a:lvl2pPr marL="457200">
        <a:defRPr>
          <a:latin typeface="+mn-lt"/>
          <a:ea typeface="+mn-ea"/>
          <a:cs typeface="+mn-cs"/>
        </a:defRPr>
      </a:lvl2pPr>
      <a:lvl3pPr marL="914400">
        <a:defRPr>
          <a:latin typeface="+mn-lt"/>
          <a:ea typeface="+mn-ea"/>
          <a:cs typeface="+mn-cs"/>
        </a:defRPr>
      </a:lvl3pPr>
      <a:lvl4pPr marL="1371600">
        <a:defRPr>
          <a:latin typeface="+mn-lt"/>
          <a:ea typeface="+mn-ea"/>
          <a:cs typeface="+mn-cs"/>
        </a:defRPr>
      </a:lvl4pPr>
      <a:lvl5pPr marL="1828800">
        <a:defRPr>
          <a:latin typeface="+mn-lt"/>
          <a:ea typeface="+mn-ea"/>
          <a:cs typeface="+mn-cs"/>
        </a:defRPr>
      </a:lvl5pPr>
      <a:lvl6pPr marL="2286000">
        <a:defRPr>
          <a:latin typeface="+mn-lt"/>
          <a:ea typeface="+mn-ea"/>
          <a:cs typeface="+mn-cs"/>
        </a:defRPr>
      </a:lvl6pPr>
      <a:lvl7pPr marL="2743200">
        <a:defRPr>
          <a:latin typeface="+mn-lt"/>
          <a:ea typeface="+mn-ea"/>
          <a:cs typeface="+mn-cs"/>
        </a:defRPr>
      </a:lvl7pPr>
      <a:lvl8pPr marL="3200400">
        <a:defRPr>
          <a:latin typeface="+mn-lt"/>
          <a:ea typeface="+mn-ea"/>
          <a:cs typeface="+mn-cs"/>
        </a:defRPr>
      </a:lvl8pPr>
      <a:lvl9pPr marL="3657600">
        <a:defRPr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2.jpg"/><Relationship Id="rId1" Type="http://schemas.openxmlformats.org/officeDocument/2006/relationships/slideLayout" Target="../slideLayouts/slideLayout4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hyperlink" Target="http://www.royalenfield.com/" TargetMode="External"/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5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4.xml"/><Relationship Id="rId4" Type="http://schemas.openxmlformats.org/officeDocument/2006/relationships/image" Target="../media/image7.png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4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1.png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2.png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3.png"/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4.png"/><Relationship Id="rId1" Type="http://schemas.openxmlformats.org/officeDocument/2006/relationships/slideLayout" Target="../slideLayouts/slideLayout4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hyperlink" Target="http://www.royalenfield.com/" TargetMode="External"/><Relationship Id="rId1" Type="http://schemas.openxmlformats.org/officeDocument/2006/relationships/slideLayout" Target="../slideLayouts/slideLayout4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5.png"/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6.png"/><Relationship Id="rId1" Type="http://schemas.openxmlformats.org/officeDocument/2006/relationships/slideLayout" Target="../slideLayouts/slideLayout2.xml"/></Relationships>
</file>

<file path=ppt/slides/_rels/slide2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7.png"/><Relationship Id="rId1" Type="http://schemas.openxmlformats.org/officeDocument/2006/relationships/slideLayout" Target="../slideLayouts/slideLayout2.xml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8.png"/><Relationship Id="rId1" Type="http://schemas.openxmlformats.org/officeDocument/2006/relationships/slideLayout" Target="../slideLayouts/slideLayout2.xml"/></Relationships>
</file>

<file path=ppt/slides/_rels/slide2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9.png"/><Relationship Id="rId1" Type="http://schemas.openxmlformats.org/officeDocument/2006/relationships/slideLayout" Target="../slideLayouts/slideLayout2.xml"/></Relationships>
</file>

<file path=ppt/slides/_rels/slide25.xml.rels><?xml version="1.0" encoding="UTF-8" standalone="yes"?>
<Relationships xmlns="http://schemas.openxmlformats.org/package/2006/relationships"><Relationship Id="rId2" Type="http://schemas.openxmlformats.org/officeDocument/2006/relationships/image" Target="../media/image20.png"/><Relationship Id="rId1" Type="http://schemas.openxmlformats.org/officeDocument/2006/relationships/slideLayout" Target="../slideLayouts/slideLayout4.xml"/></Relationships>
</file>

<file path=ppt/slides/_rels/slide2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27.xml.rels><?xml version="1.0" encoding="UTF-8" standalone="yes"?>
<Relationships xmlns="http://schemas.openxmlformats.org/package/2006/relationships"><Relationship Id="rId2" Type="http://schemas.openxmlformats.org/officeDocument/2006/relationships/image" Target="../media/image21.png"/><Relationship Id="rId1" Type="http://schemas.openxmlformats.org/officeDocument/2006/relationships/slideLayout" Target="../slideLayouts/slideLayout2.xml"/></Relationships>
</file>

<file path=ppt/slides/_rels/slide28.xml.rels><?xml version="1.0" encoding="UTF-8" standalone="yes"?>
<Relationships xmlns="http://schemas.openxmlformats.org/package/2006/relationships"><Relationship Id="rId2" Type="http://schemas.openxmlformats.org/officeDocument/2006/relationships/image" Target="../media/image22.png"/><Relationship Id="rId1" Type="http://schemas.openxmlformats.org/officeDocument/2006/relationships/slideLayout" Target="../slideLayouts/slideLayout2.xml"/></Relationships>
</file>

<file path=ppt/slides/_rels/slide29.xml.rels><?xml version="1.0" encoding="UTF-8" standalone="yes"?>
<Relationships xmlns="http://schemas.openxmlformats.org/package/2006/relationships"><Relationship Id="rId2" Type="http://schemas.openxmlformats.org/officeDocument/2006/relationships/image" Target="../media/image23.png"/><Relationship Id="rId1" Type="http://schemas.openxmlformats.org/officeDocument/2006/relationships/slideLayout" Target="../slideLayouts/slideLayout2.xml"/></Relationships>
</file>

<file path=ppt/slides/_rels/slide3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1.xml.rels><?xml version="1.0" encoding="UTF-8" standalone="yes"?>
<Relationships xmlns="http://schemas.openxmlformats.org/package/2006/relationships"><Relationship Id="rId2" Type="http://schemas.openxmlformats.org/officeDocument/2006/relationships/image" Target="../media/image24.png"/><Relationship Id="rId1" Type="http://schemas.openxmlformats.org/officeDocument/2006/relationships/slideLayout" Target="../slideLayouts/slideLayout2.xml"/></Relationships>
</file>

<file path=ppt/slides/_rels/slide3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6.png"/><Relationship Id="rId2" Type="http://schemas.openxmlformats.org/officeDocument/2006/relationships/image" Target="../media/image25.png"/><Relationship Id="rId1" Type="http://schemas.openxmlformats.org/officeDocument/2006/relationships/slideLayout" Target="../slideLayouts/slideLayout2.xml"/></Relationships>
</file>

<file path=ppt/slides/_rels/slide33.xml.rels><?xml version="1.0" encoding="UTF-8" standalone="yes"?>
<Relationships xmlns="http://schemas.openxmlformats.org/package/2006/relationships"><Relationship Id="rId2" Type="http://schemas.openxmlformats.org/officeDocument/2006/relationships/image" Target="../media/image27.png"/><Relationship Id="rId1" Type="http://schemas.openxmlformats.org/officeDocument/2006/relationships/slideLayout" Target="../slideLayouts/slideLayout2.xml"/></Relationships>
</file>

<file path=ppt/slides/_rels/slide34.xml.rels><?xml version="1.0" encoding="UTF-8" standalone="yes"?>
<Relationships xmlns="http://schemas.openxmlformats.org/package/2006/relationships"><Relationship Id="rId2" Type="http://schemas.openxmlformats.org/officeDocument/2006/relationships/image" Target="../media/image28.png"/><Relationship Id="rId1" Type="http://schemas.openxmlformats.org/officeDocument/2006/relationships/slideLayout" Target="../slideLayouts/slideLayout2.xml"/></Relationships>
</file>

<file path=ppt/slides/_rels/slide3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6.xml.rels><?xml version="1.0" encoding="UTF-8" standalone="yes"?>
<Relationships xmlns="http://schemas.openxmlformats.org/package/2006/relationships"><Relationship Id="rId2" Type="http://schemas.openxmlformats.org/officeDocument/2006/relationships/image" Target="../media/image29.png"/><Relationship Id="rId1" Type="http://schemas.openxmlformats.org/officeDocument/2006/relationships/slideLayout" Target="../slideLayouts/slideLayout2.xml"/></Relationships>
</file>

<file path=ppt/slides/_rels/slide37.xml.rels><?xml version="1.0" encoding="UTF-8" standalone="yes"?>
<Relationships xmlns="http://schemas.openxmlformats.org/package/2006/relationships"><Relationship Id="rId2" Type="http://schemas.openxmlformats.org/officeDocument/2006/relationships/image" Target="../media/image30.png"/><Relationship Id="rId1" Type="http://schemas.openxmlformats.org/officeDocument/2006/relationships/slideLayout" Target="../slideLayouts/slideLayout2.xml"/></Relationships>
</file>

<file path=ppt/slides/_rels/slide38.xml.rels><?xml version="1.0" encoding="UTF-8" standalone="yes"?>
<Relationships xmlns="http://schemas.openxmlformats.org/package/2006/relationships"><Relationship Id="rId2" Type="http://schemas.openxmlformats.org/officeDocument/2006/relationships/image" Target="../media/image31.png"/><Relationship Id="rId1" Type="http://schemas.openxmlformats.org/officeDocument/2006/relationships/slideLayout" Target="../slideLayouts/slideLayout2.xml"/></Relationships>
</file>

<file path=ppt/slides/_rels/slide39.xml.rels><?xml version="1.0" encoding="UTF-8" standalone="yes"?>
<Relationships xmlns="http://schemas.openxmlformats.org/package/2006/relationships"><Relationship Id="rId2" Type="http://schemas.openxmlformats.org/officeDocument/2006/relationships/image" Target="../media/image32.png"/><Relationship Id="rId1" Type="http://schemas.openxmlformats.org/officeDocument/2006/relationships/slideLayout" Target="../slideLayouts/slideLayout2.xml"/></Relationships>
</file>

<file path=ppt/slides/_rels/slide40.xml.rels><?xml version="1.0" encoding="UTF-8" standalone="yes"?>
<Relationships xmlns="http://schemas.openxmlformats.org/package/2006/relationships"><Relationship Id="rId2" Type="http://schemas.openxmlformats.org/officeDocument/2006/relationships/image" Target="../media/image33.png"/><Relationship Id="rId1" Type="http://schemas.openxmlformats.org/officeDocument/2006/relationships/slideLayout" Target="../slideLayouts/slideLayout2.xml"/></Relationships>
</file>

<file path=ppt/slides/_rels/slide41.xml.rels><?xml version="1.0" encoding="UTF-8" standalone="yes"?>
<Relationships xmlns="http://schemas.openxmlformats.org/package/2006/relationships"><Relationship Id="rId2" Type="http://schemas.openxmlformats.org/officeDocument/2006/relationships/hyperlink" Target="https://blackkite.com/blog/focus-friday-third-party-risks-in-sharepoint-toolshell-and-grafana-vulnerabilities" TargetMode="External"/><Relationship Id="rId1" Type="http://schemas.openxmlformats.org/officeDocument/2006/relationships/slideLayout" Target="../slideLayouts/slideLayout1.xml"/></Relationships>
</file>

<file path=ppt/slides/_rels/slide42.xml.rels><?xml version="1.0" encoding="UTF-8" standalone="yes"?>
<Relationships xmlns="http://schemas.openxmlformats.org/package/2006/relationships"><Relationship Id="rId2" Type="http://schemas.openxmlformats.org/officeDocument/2006/relationships/image" Target="../media/image34.png"/><Relationship Id="rId1" Type="http://schemas.openxmlformats.org/officeDocument/2006/relationships/slideLayout" Target="../slideLayouts/slideLayout2.xml"/></Relationships>
</file>

<file path=ppt/slides/_rels/slide43.xml.rels><?xml version="1.0" encoding="UTF-8" standalone="yes"?>
<Relationships xmlns="http://schemas.openxmlformats.org/package/2006/relationships"><Relationship Id="rId2" Type="http://schemas.openxmlformats.org/officeDocument/2006/relationships/image" Target="../media/image35.png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/>
          <p:nvPr/>
        </p:nvSpPr>
        <p:spPr>
          <a:xfrm>
            <a:off x="679450" y="6227946"/>
            <a:ext cx="7187565" cy="337185"/>
          </a:xfrm>
          <a:prstGeom prst="rect">
            <a:avLst/>
          </a:prstGeom>
        </p:spPr>
        <p:txBody>
          <a:bodyPr vert="horz" wrap="square" lIns="0" tIns="6350" rIns="0" bIns="0" rtlCol="0">
            <a:spAutoFit/>
          </a:bodyPr>
          <a:lstStyle/>
          <a:p>
            <a:pPr>
              <a:lnSpc>
                <a:spcPts val="1280"/>
              </a:lnSpc>
              <a:spcBef>
                <a:spcPts val="50"/>
              </a:spcBef>
            </a:pPr>
            <a:r>
              <a:rPr sz="1100" b="1" spc="-10" dirty="0">
                <a:solidFill>
                  <a:srgbClr val="AEABAB"/>
                </a:solidFill>
                <a:latin typeface="Calibri"/>
                <a:cs typeface="Calibri"/>
              </a:rPr>
              <a:t>CONFIDENTIAL</a:t>
            </a:r>
            <a:r>
              <a:rPr sz="1100" spc="-10" dirty="0">
                <a:solidFill>
                  <a:srgbClr val="AEABAB"/>
                </a:solidFill>
                <a:latin typeface="Calibri"/>
                <a:cs typeface="Calibri"/>
              </a:rPr>
              <a:t>: </a:t>
            </a:r>
            <a:r>
              <a:rPr sz="1100" dirty="0">
                <a:solidFill>
                  <a:srgbClr val="AEABAB"/>
                </a:solidFill>
                <a:latin typeface="Calibri"/>
                <a:cs typeface="Calibri"/>
              </a:rPr>
              <a:t>The</a:t>
            </a:r>
            <a:r>
              <a:rPr sz="1100" spc="30" dirty="0">
                <a:solidFill>
                  <a:srgbClr val="AEABAB"/>
                </a:solidFill>
                <a:latin typeface="Calibri"/>
                <a:cs typeface="Calibri"/>
              </a:rPr>
              <a:t> </a:t>
            </a:r>
            <a:r>
              <a:rPr sz="1100" dirty="0">
                <a:solidFill>
                  <a:srgbClr val="AEABAB"/>
                </a:solidFill>
                <a:latin typeface="Calibri"/>
                <a:cs typeface="Calibri"/>
              </a:rPr>
              <a:t>information</a:t>
            </a:r>
            <a:r>
              <a:rPr sz="1100" spc="-5" dirty="0">
                <a:solidFill>
                  <a:srgbClr val="AEABAB"/>
                </a:solidFill>
                <a:latin typeface="Calibri"/>
                <a:cs typeface="Calibri"/>
              </a:rPr>
              <a:t> </a:t>
            </a:r>
            <a:r>
              <a:rPr sz="1100" dirty="0">
                <a:solidFill>
                  <a:srgbClr val="AEABAB"/>
                </a:solidFill>
                <a:latin typeface="Calibri"/>
                <a:cs typeface="Calibri"/>
              </a:rPr>
              <a:t>in this</a:t>
            </a:r>
            <a:r>
              <a:rPr sz="1100" spc="-5" dirty="0">
                <a:solidFill>
                  <a:srgbClr val="AEABAB"/>
                </a:solidFill>
                <a:latin typeface="Calibri"/>
                <a:cs typeface="Calibri"/>
              </a:rPr>
              <a:t> </a:t>
            </a:r>
            <a:r>
              <a:rPr sz="1100" dirty="0">
                <a:solidFill>
                  <a:srgbClr val="AEABAB"/>
                </a:solidFill>
                <a:latin typeface="Calibri"/>
                <a:cs typeface="Calibri"/>
              </a:rPr>
              <a:t>document</a:t>
            </a:r>
            <a:r>
              <a:rPr sz="1100" spc="-10" dirty="0">
                <a:solidFill>
                  <a:srgbClr val="AEABAB"/>
                </a:solidFill>
                <a:latin typeface="Calibri"/>
                <a:cs typeface="Calibri"/>
              </a:rPr>
              <a:t> belongs</a:t>
            </a:r>
            <a:r>
              <a:rPr sz="1100" spc="-5" dirty="0">
                <a:solidFill>
                  <a:srgbClr val="AEABAB"/>
                </a:solidFill>
                <a:latin typeface="Calibri"/>
                <a:cs typeface="Calibri"/>
              </a:rPr>
              <a:t> </a:t>
            </a:r>
            <a:r>
              <a:rPr sz="1100" dirty="0">
                <a:solidFill>
                  <a:srgbClr val="AEABAB"/>
                </a:solidFill>
                <a:latin typeface="Calibri"/>
                <a:cs typeface="Calibri"/>
              </a:rPr>
              <a:t>to</a:t>
            </a:r>
            <a:r>
              <a:rPr sz="1100" spc="-10" dirty="0">
                <a:solidFill>
                  <a:srgbClr val="AEABAB"/>
                </a:solidFill>
                <a:latin typeface="Calibri"/>
                <a:cs typeface="Calibri"/>
              </a:rPr>
              <a:t> </a:t>
            </a:r>
            <a:r>
              <a:rPr sz="1100" dirty="0">
                <a:solidFill>
                  <a:srgbClr val="AEABAB"/>
                </a:solidFill>
                <a:latin typeface="Calibri"/>
                <a:cs typeface="Calibri"/>
              </a:rPr>
              <a:t>Boston Institute</a:t>
            </a:r>
            <a:r>
              <a:rPr sz="1100" spc="-50" dirty="0">
                <a:solidFill>
                  <a:srgbClr val="AEABAB"/>
                </a:solidFill>
                <a:latin typeface="Calibri"/>
                <a:cs typeface="Calibri"/>
              </a:rPr>
              <a:t> </a:t>
            </a:r>
            <a:r>
              <a:rPr sz="1100" dirty="0">
                <a:solidFill>
                  <a:srgbClr val="AEABAB"/>
                </a:solidFill>
                <a:latin typeface="Calibri"/>
                <a:cs typeface="Calibri"/>
              </a:rPr>
              <a:t>of</a:t>
            </a:r>
            <a:r>
              <a:rPr sz="1100" spc="25" dirty="0">
                <a:solidFill>
                  <a:srgbClr val="AEABAB"/>
                </a:solidFill>
                <a:latin typeface="Calibri"/>
                <a:cs typeface="Calibri"/>
              </a:rPr>
              <a:t> </a:t>
            </a:r>
            <a:r>
              <a:rPr sz="1100" spc="-10" dirty="0">
                <a:solidFill>
                  <a:srgbClr val="AEABAB"/>
                </a:solidFill>
                <a:latin typeface="Calibri"/>
                <a:cs typeface="Calibri"/>
              </a:rPr>
              <a:t>Analytics</a:t>
            </a:r>
            <a:r>
              <a:rPr sz="1100" spc="-5" dirty="0">
                <a:solidFill>
                  <a:srgbClr val="AEABAB"/>
                </a:solidFill>
                <a:latin typeface="Calibri"/>
                <a:cs typeface="Calibri"/>
              </a:rPr>
              <a:t> </a:t>
            </a:r>
            <a:r>
              <a:rPr sz="1100" dirty="0">
                <a:solidFill>
                  <a:srgbClr val="AEABAB"/>
                </a:solidFill>
                <a:latin typeface="Calibri"/>
                <a:cs typeface="Calibri"/>
              </a:rPr>
              <a:t>LLC.</a:t>
            </a:r>
            <a:r>
              <a:rPr sz="1100" spc="10" dirty="0">
                <a:solidFill>
                  <a:srgbClr val="AEABAB"/>
                </a:solidFill>
                <a:latin typeface="Calibri"/>
                <a:cs typeface="Calibri"/>
              </a:rPr>
              <a:t> </a:t>
            </a:r>
            <a:r>
              <a:rPr sz="1100" dirty="0">
                <a:solidFill>
                  <a:srgbClr val="AEABAB"/>
                </a:solidFill>
                <a:latin typeface="Calibri"/>
                <a:cs typeface="Calibri"/>
              </a:rPr>
              <a:t>Any </a:t>
            </a:r>
            <a:r>
              <a:rPr sz="1100" spc="-10" dirty="0">
                <a:solidFill>
                  <a:srgbClr val="AEABAB"/>
                </a:solidFill>
                <a:latin typeface="Calibri"/>
                <a:cs typeface="Calibri"/>
              </a:rPr>
              <a:t>unauthorized</a:t>
            </a:r>
            <a:r>
              <a:rPr sz="1100" dirty="0">
                <a:solidFill>
                  <a:srgbClr val="AEABAB"/>
                </a:solidFill>
                <a:latin typeface="Calibri"/>
                <a:cs typeface="Calibri"/>
              </a:rPr>
              <a:t> sharing</a:t>
            </a:r>
            <a:r>
              <a:rPr sz="1100" spc="-15" dirty="0">
                <a:solidFill>
                  <a:srgbClr val="AEABAB"/>
                </a:solidFill>
                <a:latin typeface="Calibri"/>
                <a:cs typeface="Calibri"/>
              </a:rPr>
              <a:t> </a:t>
            </a:r>
            <a:r>
              <a:rPr sz="1100" dirty="0">
                <a:solidFill>
                  <a:srgbClr val="AEABAB"/>
                </a:solidFill>
                <a:latin typeface="Calibri"/>
                <a:cs typeface="Calibri"/>
              </a:rPr>
              <a:t>of</a:t>
            </a:r>
            <a:r>
              <a:rPr sz="1100" spc="25" dirty="0">
                <a:solidFill>
                  <a:srgbClr val="AEABAB"/>
                </a:solidFill>
                <a:latin typeface="Calibri"/>
                <a:cs typeface="Calibri"/>
              </a:rPr>
              <a:t> </a:t>
            </a:r>
            <a:r>
              <a:rPr sz="1100" spc="-20" dirty="0">
                <a:solidFill>
                  <a:srgbClr val="AEABAB"/>
                </a:solidFill>
                <a:latin typeface="Calibri"/>
                <a:cs typeface="Calibri"/>
              </a:rPr>
              <a:t>this </a:t>
            </a:r>
            <a:r>
              <a:rPr sz="1100" dirty="0">
                <a:solidFill>
                  <a:srgbClr val="AEABAB"/>
                </a:solidFill>
                <a:latin typeface="Calibri"/>
                <a:cs typeface="Calibri"/>
              </a:rPr>
              <a:t>material</a:t>
            </a:r>
            <a:r>
              <a:rPr sz="1100" spc="10" dirty="0">
                <a:solidFill>
                  <a:srgbClr val="AEABAB"/>
                </a:solidFill>
                <a:latin typeface="Calibri"/>
                <a:cs typeface="Calibri"/>
              </a:rPr>
              <a:t> </a:t>
            </a:r>
            <a:r>
              <a:rPr sz="1100" dirty="0">
                <a:solidFill>
                  <a:srgbClr val="AEABAB"/>
                </a:solidFill>
                <a:latin typeface="Calibri"/>
                <a:cs typeface="Calibri"/>
              </a:rPr>
              <a:t>is</a:t>
            </a:r>
            <a:r>
              <a:rPr sz="1100" spc="-25" dirty="0">
                <a:solidFill>
                  <a:srgbClr val="AEABAB"/>
                </a:solidFill>
                <a:latin typeface="Calibri"/>
                <a:cs typeface="Calibri"/>
              </a:rPr>
              <a:t> </a:t>
            </a:r>
            <a:r>
              <a:rPr sz="1100" dirty="0">
                <a:solidFill>
                  <a:srgbClr val="AEABAB"/>
                </a:solidFill>
                <a:latin typeface="Calibri"/>
                <a:cs typeface="Calibri"/>
              </a:rPr>
              <a:t>prohibited</a:t>
            </a:r>
            <a:r>
              <a:rPr sz="1100" spc="-25" dirty="0">
                <a:solidFill>
                  <a:srgbClr val="AEABAB"/>
                </a:solidFill>
                <a:latin typeface="Calibri"/>
                <a:cs typeface="Calibri"/>
              </a:rPr>
              <a:t> </a:t>
            </a:r>
            <a:r>
              <a:rPr sz="1100" dirty="0">
                <a:solidFill>
                  <a:srgbClr val="AEABAB"/>
                </a:solidFill>
                <a:latin typeface="Calibri"/>
                <a:cs typeface="Calibri"/>
              </a:rPr>
              <a:t>and</a:t>
            </a:r>
            <a:r>
              <a:rPr sz="1100" spc="-20" dirty="0">
                <a:solidFill>
                  <a:srgbClr val="AEABAB"/>
                </a:solidFill>
                <a:latin typeface="Calibri"/>
                <a:cs typeface="Calibri"/>
              </a:rPr>
              <a:t> </a:t>
            </a:r>
            <a:r>
              <a:rPr sz="1100" dirty="0">
                <a:solidFill>
                  <a:srgbClr val="AEABAB"/>
                </a:solidFill>
                <a:latin typeface="Calibri"/>
                <a:cs typeface="Calibri"/>
              </a:rPr>
              <a:t>subject</a:t>
            </a:r>
            <a:r>
              <a:rPr sz="1100" spc="-35" dirty="0">
                <a:solidFill>
                  <a:srgbClr val="AEABAB"/>
                </a:solidFill>
                <a:latin typeface="Calibri"/>
                <a:cs typeface="Calibri"/>
              </a:rPr>
              <a:t> </a:t>
            </a:r>
            <a:r>
              <a:rPr sz="1100" dirty="0">
                <a:solidFill>
                  <a:srgbClr val="AEABAB"/>
                </a:solidFill>
                <a:latin typeface="Calibri"/>
                <a:cs typeface="Calibri"/>
              </a:rPr>
              <a:t>to</a:t>
            </a:r>
            <a:r>
              <a:rPr sz="1100" spc="-25" dirty="0">
                <a:solidFill>
                  <a:srgbClr val="AEABAB"/>
                </a:solidFill>
                <a:latin typeface="Calibri"/>
                <a:cs typeface="Calibri"/>
              </a:rPr>
              <a:t> </a:t>
            </a:r>
            <a:r>
              <a:rPr sz="1100" dirty="0">
                <a:solidFill>
                  <a:srgbClr val="AEABAB"/>
                </a:solidFill>
                <a:latin typeface="Calibri"/>
                <a:cs typeface="Calibri"/>
              </a:rPr>
              <a:t>legal</a:t>
            </a:r>
            <a:r>
              <a:rPr sz="1100" spc="10" dirty="0">
                <a:solidFill>
                  <a:srgbClr val="AEABAB"/>
                </a:solidFill>
                <a:latin typeface="Calibri"/>
                <a:cs typeface="Calibri"/>
              </a:rPr>
              <a:t> </a:t>
            </a:r>
            <a:r>
              <a:rPr sz="1100" dirty="0">
                <a:solidFill>
                  <a:srgbClr val="AEABAB"/>
                </a:solidFill>
                <a:latin typeface="Calibri"/>
                <a:cs typeface="Calibri"/>
              </a:rPr>
              <a:t>action</a:t>
            </a:r>
            <a:r>
              <a:rPr sz="1100" spc="-25" dirty="0">
                <a:solidFill>
                  <a:srgbClr val="AEABAB"/>
                </a:solidFill>
                <a:latin typeface="Calibri"/>
                <a:cs typeface="Calibri"/>
              </a:rPr>
              <a:t> </a:t>
            </a:r>
            <a:r>
              <a:rPr sz="1100" dirty="0">
                <a:solidFill>
                  <a:srgbClr val="AEABAB"/>
                </a:solidFill>
                <a:latin typeface="Calibri"/>
                <a:cs typeface="Calibri"/>
              </a:rPr>
              <a:t>under</a:t>
            </a:r>
            <a:r>
              <a:rPr sz="1100" spc="25" dirty="0">
                <a:solidFill>
                  <a:srgbClr val="AEABAB"/>
                </a:solidFill>
                <a:latin typeface="Calibri"/>
                <a:cs typeface="Calibri"/>
              </a:rPr>
              <a:t> </a:t>
            </a:r>
            <a:r>
              <a:rPr sz="1100" dirty="0">
                <a:solidFill>
                  <a:srgbClr val="AEABAB"/>
                </a:solidFill>
                <a:latin typeface="Calibri"/>
                <a:cs typeface="Calibri"/>
              </a:rPr>
              <a:t>breach</a:t>
            </a:r>
            <a:r>
              <a:rPr sz="1100" spc="-20" dirty="0">
                <a:solidFill>
                  <a:srgbClr val="AEABAB"/>
                </a:solidFill>
                <a:latin typeface="Calibri"/>
                <a:cs typeface="Calibri"/>
              </a:rPr>
              <a:t> </a:t>
            </a:r>
            <a:r>
              <a:rPr sz="1100" dirty="0">
                <a:solidFill>
                  <a:srgbClr val="AEABAB"/>
                </a:solidFill>
                <a:latin typeface="Calibri"/>
                <a:cs typeface="Calibri"/>
              </a:rPr>
              <a:t>of IP</a:t>
            </a:r>
            <a:r>
              <a:rPr sz="1100" spc="-15" dirty="0">
                <a:solidFill>
                  <a:srgbClr val="AEABAB"/>
                </a:solidFill>
                <a:latin typeface="Calibri"/>
                <a:cs typeface="Calibri"/>
              </a:rPr>
              <a:t> </a:t>
            </a:r>
            <a:r>
              <a:rPr sz="1100" dirty="0">
                <a:solidFill>
                  <a:srgbClr val="AEABAB"/>
                </a:solidFill>
                <a:latin typeface="Calibri"/>
                <a:cs typeface="Calibri"/>
              </a:rPr>
              <a:t>and</a:t>
            </a:r>
            <a:r>
              <a:rPr sz="1100" spc="-20" dirty="0">
                <a:solidFill>
                  <a:srgbClr val="AEABAB"/>
                </a:solidFill>
                <a:latin typeface="Calibri"/>
                <a:cs typeface="Calibri"/>
              </a:rPr>
              <a:t> </a:t>
            </a:r>
            <a:r>
              <a:rPr sz="1100" spc="-10" dirty="0">
                <a:solidFill>
                  <a:srgbClr val="AEABAB"/>
                </a:solidFill>
                <a:latin typeface="Calibri"/>
                <a:cs typeface="Calibri"/>
              </a:rPr>
              <a:t>confidentiality</a:t>
            </a:r>
            <a:r>
              <a:rPr sz="1100" spc="-15" dirty="0">
                <a:solidFill>
                  <a:srgbClr val="AEABAB"/>
                </a:solidFill>
                <a:latin typeface="Calibri"/>
                <a:cs typeface="Calibri"/>
              </a:rPr>
              <a:t> </a:t>
            </a:r>
            <a:r>
              <a:rPr sz="1100" spc="-10" dirty="0">
                <a:solidFill>
                  <a:srgbClr val="AEABAB"/>
                </a:solidFill>
                <a:latin typeface="Calibri"/>
                <a:cs typeface="Calibri"/>
              </a:rPr>
              <a:t>clauses.</a:t>
            </a:r>
            <a:endParaRPr sz="1100" dirty="0">
              <a:latin typeface="Calibri"/>
              <a:cs typeface="Calibri"/>
            </a:endParaRPr>
          </a:p>
        </p:txBody>
      </p:sp>
      <p:grpSp>
        <p:nvGrpSpPr>
          <p:cNvPr id="3" name="object 3"/>
          <p:cNvGrpSpPr/>
          <p:nvPr/>
        </p:nvGrpSpPr>
        <p:grpSpPr>
          <a:xfrm>
            <a:off x="38407" y="0"/>
            <a:ext cx="12192000" cy="6858000"/>
            <a:chOff x="0" y="0"/>
            <a:chExt cx="12192000" cy="6858000"/>
          </a:xfrm>
        </p:grpSpPr>
        <p:pic>
          <p:nvPicPr>
            <p:cNvPr id="4" name="object 4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0" y="0"/>
              <a:ext cx="12192000" cy="6857997"/>
            </a:xfrm>
            <a:prstGeom prst="rect">
              <a:avLst/>
            </a:prstGeom>
          </p:spPr>
        </p:pic>
        <p:pic>
          <p:nvPicPr>
            <p:cNvPr id="5" name="object 5"/>
            <p:cNvPicPr/>
            <p:nvPr/>
          </p:nvPicPr>
          <p:blipFill>
            <a:blip r:embed="rId3" cstate="print"/>
            <a:stretch>
              <a:fillRect/>
            </a:stretch>
          </p:blipFill>
          <p:spPr>
            <a:xfrm>
              <a:off x="4019550" y="914400"/>
              <a:ext cx="5153025" cy="1419225"/>
            </a:xfrm>
            <a:prstGeom prst="rect">
              <a:avLst/>
            </a:prstGeom>
          </p:spPr>
        </p:pic>
      </p:grpSp>
      <p:sp>
        <p:nvSpPr>
          <p:cNvPr id="6" name="object 6" descr="$PPTXTitle"/>
          <p:cNvSpPr txBox="1">
            <a:spLocks noGrp="1"/>
          </p:cNvSpPr>
          <p:nvPr>
            <p:ph type="title"/>
          </p:nvPr>
        </p:nvSpPr>
        <p:spPr>
          <a:xfrm>
            <a:off x="3070604" y="2812160"/>
            <a:ext cx="6378195" cy="2047997"/>
          </a:xfrm>
          <a:prstGeom prst="rect">
            <a:avLst/>
          </a:prstGeom>
        </p:spPr>
        <p:txBody>
          <a:bodyPr vert="horz" wrap="square" lIns="0" tIns="1651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30"/>
              </a:spcBef>
            </a:pPr>
            <a:r>
              <a:rPr sz="4400" spc="-85" dirty="0" smtClean="0">
                <a:solidFill>
                  <a:srgbClr val="FFFFFF"/>
                </a:solidFill>
              </a:rPr>
              <a:t> </a:t>
            </a:r>
            <a:r>
              <a:rPr sz="4400" spc="-10" dirty="0">
                <a:solidFill>
                  <a:srgbClr val="FFFFFF"/>
                </a:solidFill>
              </a:rPr>
              <a:t>Capstone</a:t>
            </a:r>
            <a:r>
              <a:rPr sz="4400" spc="-95" dirty="0">
                <a:solidFill>
                  <a:srgbClr val="FFFFFF"/>
                </a:solidFill>
              </a:rPr>
              <a:t> </a:t>
            </a:r>
            <a:r>
              <a:rPr sz="4400" spc="-10" dirty="0" smtClean="0">
                <a:solidFill>
                  <a:srgbClr val="FFFFFF"/>
                </a:solidFill>
              </a:rPr>
              <a:t>Project</a:t>
            </a:r>
            <a:r>
              <a:rPr lang="en-US" sz="4400" spc="-10" dirty="0" smtClean="0">
                <a:solidFill>
                  <a:srgbClr val="FFFFFF"/>
                </a:solidFill>
              </a:rPr>
              <a:t>:</a:t>
            </a:r>
            <a:r>
              <a:rPr lang="en-US" sz="4400" spc="-10" dirty="0">
                <a:solidFill>
                  <a:srgbClr val="FFFFFF"/>
                </a:solidFill>
              </a:rPr>
              <a:t/>
            </a:r>
            <a:br>
              <a:rPr lang="en-US" sz="4400" spc="-10" dirty="0">
                <a:solidFill>
                  <a:srgbClr val="FFFFFF"/>
                </a:solidFill>
              </a:rPr>
            </a:br>
            <a:r>
              <a:rPr lang="en-US" sz="4400" spc="-10" dirty="0" smtClean="0">
                <a:solidFill>
                  <a:srgbClr val="FFFFFF"/>
                </a:solidFill>
              </a:rPr>
              <a:t>Report on tools used for Scanning a Website</a:t>
            </a:r>
            <a:endParaRPr sz="44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 descr="$PPTXTitle"/>
          <p:cNvSpPr txBox="1">
            <a:spLocks noGrp="1"/>
          </p:cNvSpPr>
          <p:nvPr>
            <p:ph type="title"/>
          </p:nvPr>
        </p:nvSpPr>
        <p:spPr>
          <a:xfrm>
            <a:off x="666750" y="609600"/>
            <a:ext cx="11220450" cy="2340384"/>
          </a:xfrm>
          <a:prstGeom prst="rect">
            <a:avLst/>
          </a:prstGeom>
        </p:spPr>
        <p:txBody>
          <a:bodyPr vert="horz" wrap="square" lIns="0" tIns="1651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30"/>
              </a:spcBef>
            </a:pPr>
            <a:r>
              <a:rPr spc="-10" dirty="0" smtClean="0"/>
              <a:t>Agenda</a:t>
            </a:r>
            <a:r>
              <a:rPr lang="en-US" spc="-10" dirty="0" smtClean="0"/>
              <a:t/>
            </a:r>
            <a:br>
              <a:rPr lang="en-US" spc="-10" dirty="0" smtClean="0"/>
            </a:br>
            <a:r>
              <a:rPr lang="en-US" spc="-10" dirty="0"/>
              <a:t/>
            </a:r>
            <a:br>
              <a:rPr lang="en-US" spc="-10" dirty="0"/>
            </a:br>
            <a:r>
              <a:rPr lang="en-US" sz="2800" spc="-10" dirty="0" smtClean="0"/>
              <a:t>Scan a website and find out what open ports are actively running and what the functions, benefits and threats of such ports being opened, test the vulnerability in the website.</a:t>
            </a:r>
            <a:endParaRPr sz="2800" spc="-10" dirty="0"/>
          </a:p>
        </p:txBody>
      </p:sp>
      <p:sp>
        <p:nvSpPr>
          <p:cNvPr id="3" name="object 3"/>
          <p:cNvSpPr txBox="1">
            <a:spLocks noGrp="1"/>
          </p:cNvSpPr>
          <p:nvPr>
            <p:ph type="ftr" sz="quarter" idx="5"/>
          </p:nvPr>
        </p:nvSpPr>
        <p:spPr>
          <a:prstGeom prst="rect">
            <a:avLst/>
          </a:prstGeom>
        </p:spPr>
        <p:txBody>
          <a:bodyPr vert="horz" wrap="square" lIns="0" tIns="19050" rIns="0" bIns="0" rtlCol="0">
            <a:spAutoFit/>
          </a:bodyPr>
          <a:lstStyle/>
          <a:p>
            <a:pPr marL="12700" marR="5080">
              <a:lnSpc>
                <a:spcPts val="1280"/>
              </a:lnSpc>
              <a:spcBef>
                <a:spcPts val="150"/>
              </a:spcBef>
            </a:pPr>
            <a:r>
              <a:rPr b="1" spc="-10" dirty="0">
                <a:latin typeface="Calibri"/>
                <a:cs typeface="Calibri"/>
              </a:rPr>
              <a:t>CONFIDENTIAL</a:t>
            </a:r>
            <a:r>
              <a:rPr spc="-10" dirty="0"/>
              <a:t>: </a:t>
            </a:r>
            <a:r>
              <a:rPr dirty="0"/>
              <a:t>The</a:t>
            </a:r>
            <a:r>
              <a:rPr spc="30" dirty="0"/>
              <a:t> </a:t>
            </a:r>
            <a:r>
              <a:rPr dirty="0"/>
              <a:t>information</a:t>
            </a:r>
            <a:r>
              <a:rPr spc="-5" dirty="0"/>
              <a:t> </a:t>
            </a:r>
            <a:r>
              <a:rPr dirty="0"/>
              <a:t>in this</a:t>
            </a:r>
            <a:r>
              <a:rPr spc="-5" dirty="0"/>
              <a:t> </a:t>
            </a:r>
            <a:r>
              <a:rPr dirty="0"/>
              <a:t>document</a:t>
            </a:r>
            <a:r>
              <a:rPr spc="-10" dirty="0"/>
              <a:t> belongs</a:t>
            </a:r>
            <a:r>
              <a:rPr spc="-5" dirty="0"/>
              <a:t> </a:t>
            </a:r>
            <a:r>
              <a:rPr dirty="0"/>
              <a:t>to</a:t>
            </a:r>
            <a:r>
              <a:rPr spc="-10" dirty="0"/>
              <a:t> </a:t>
            </a:r>
            <a:r>
              <a:rPr dirty="0"/>
              <a:t>Boston Institute</a:t>
            </a:r>
            <a:r>
              <a:rPr spc="-50" dirty="0"/>
              <a:t> </a:t>
            </a:r>
            <a:r>
              <a:rPr dirty="0"/>
              <a:t>of</a:t>
            </a:r>
            <a:r>
              <a:rPr spc="25" dirty="0"/>
              <a:t> </a:t>
            </a:r>
            <a:r>
              <a:rPr spc="-10" dirty="0"/>
              <a:t>Analytics</a:t>
            </a:r>
            <a:r>
              <a:rPr spc="-5" dirty="0"/>
              <a:t> </a:t>
            </a:r>
            <a:r>
              <a:rPr dirty="0"/>
              <a:t>LLC.</a:t>
            </a:r>
            <a:r>
              <a:rPr spc="10" dirty="0"/>
              <a:t> </a:t>
            </a:r>
            <a:r>
              <a:rPr dirty="0"/>
              <a:t>Any </a:t>
            </a:r>
            <a:r>
              <a:rPr spc="-10" dirty="0"/>
              <a:t>unauthorized</a:t>
            </a:r>
            <a:r>
              <a:rPr dirty="0"/>
              <a:t> sharing</a:t>
            </a:r>
            <a:r>
              <a:rPr spc="-15" dirty="0"/>
              <a:t> </a:t>
            </a:r>
            <a:r>
              <a:rPr dirty="0"/>
              <a:t>of</a:t>
            </a:r>
            <a:r>
              <a:rPr spc="25" dirty="0"/>
              <a:t> </a:t>
            </a:r>
            <a:r>
              <a:rPr spc="-20" dirty="0"/>
              <a:t>this </a:t>
            </a:r>
            <a:r>
              <a:rPr dirty="0"/>
              <a:t>material</a:t>
            </a:r>
            <a:r>
              <a:rPr spc="10" dirty="0"/>
              <a:t> </a:t>
            </a:r>
            <a:r>
              <a:rPr dirty="0"/>
              <a:t>is</a:t>
            </a:r>
            <a:r>
              <a:rPr spc="-25" dirty="0"/>
              <a:t> </a:t>
            </a:r>
            <a:r>
              <a:rPr dirty="0"/>
              <a:t>prohibited</a:t>
            </a:r>
            <a:r>
              <a:rPr spc="-25" dirty="0"/>
              <a:t> </a:t>
            </a:r>
            <a:r>
              <a:rPr dirty="0"/>
              <a:t>and</a:t>
            </a:r>
            <a:r>
              <a:rPr spc="-20" dirty="0"/>
              <a:t> </a:t>
            </a:r>
            <a:r>
              <a:rPr dirty="0"/>
              <a:t>subject</a:t>
            </a:r>
            <a:r>
              <a:rPr spc="-35" dirty="0"/>
              <a:t> </a:t>
            </a:r>
            <a:r>
              <a:rPr dirty="0"/>
              <a:t>to</a:t>
            </a:r>
            <a:r>
              <a:rPr spc="-25" dirty="0"/>
              <a:t> </a:t>
            </a:r>
            <a:r>
              <a:rPr dirty="0"/>
              <a:t>legal</a:t>
            </a:r>
            <a:r>
              <a:rPr spc="10" dirty="0"/>
              <a:t> </a:t>
            </a:r>
            <a:r>
              <a:rPr dirty="0"/>
              <a:t>action</a:t>
            </a:r>
            <a:r>
              <a:rPr spc="-25" dirty="0"/>
              <a:t> </a:t>
            </a:r>
            <a:r>
              <a:rPr dirty="0"/>
              <a:t>under</a:t>
            </a:r>
            <a:r>
              <a:rPr spc="25" dirty="0"/>
              <a:t> </a:t>
            </a:r>
            <a:r>
              <a:rPr dirty="0"/>
              <a:t>breach</a:t>
            </a:r>
            <a:r>
              <a:rPr spc="-20" dirty="0"/>
              <a:t> </a:t>
            </a:r>
            <a:r>
              <a:rPr dirty="0"/>
              <a:t>of IP</a:t>
            </a:r>
            <a:r>
              <a:rPr spc="-15" dirty="0"/>
              <a:t> </a:t>
            </a:r>
            <a:r>
              <a:rPr dirty="0"/>
              <a:t>and</a:t>
            </a:r>
            <a:r>
              <a:rPr spc="-20" dirty="0"/>
              <a:t> </a:t>
            </a:r>
            <a:r>
              <a:rPr spc="-10" dirty="0"/>
              <a:t>confidentiality</a:t>
            </a:r>
            <a:r>
              <a:rPr spc="-15" dirty="0"/>
              <a:t> </a:t>
            </a:r>
            <a:r>
              <a:rPr spc="-10" dirty="0"/>
              <a:t>clauses.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 descr="$PPTXTitle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1651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30"/>
              </a:spcBef>
            </a:pPr>
            <a:r>
              <a:rPr spc="-10" dirty="0" smtClean="0"/>
              <a:t>Title</a:t>
            </a:r>
            <a:endParaRPr spc="-10" dirty="0"/>
          </a:p>
        </p:txBody>
      </p:sp>
      <p:sp>
        <p:nvSpPr>
          <p:cNvPr id="4" name="object 4"/>
          <p:cNvSpPr txBox="1">
            <a:spLocks noGrp="1"/>
          </p:cNvSpPr>
          <p:nvPr>
            <p:ph type="ftr" sz="quarter" idx="5"/>
          </p:nvPr>
        </p:nvSpPr>
        <p:spPr>
          <a:prstGeom prst="rect">
            <a:avLst/>
          </a:prstGeom>
        </p:spPr>
        <p:txBody>
          <a:bodyPr vert="horz" wrap="square" lIns="0" tIns="19050" rIns="0" bIns="0" rtlCol="0">
            <a:spAutoFit/>
          </a:bodyPr>
          <a:lstStyle/>
          <a:p>
            <a:pPr marL="12700" marR="5080">
              <a:lnSpc>
                <a:spcPts val="1280"/>
              </a:lnSpc>
              <a:spcBef>
                <a:spcPts val="150"/>
              </a:spcBef>
            </a:pPr>
            <a:r>
              <a:rPr b="1" spc="-10" dirty="0">
                <a:latin typeface="Calibri"/>
                <a:cs typeface="Calibri"/>
              </a:rPr>
              <a:t>CONFIDENTIAL</a:t>
            </a:r>
            <a:r>
              <a:rPr spc="-10" dirty="0"/>
              <a:t>: </a:t>
            </a:r>
            <a:r>
              <a:rPr dirty="0"/>
              <a:t>The</a:t>
            </a:r>
            <a:r>
              <a:rPr spc="30" dirty="0"/>
              <a:t> </a:t>
            </a:r>
            <a:r>
              <a:rPr dirty="0"/>
              <a:t>information</a:t>
            </a:r>
            <a:r>
              <a:rPr spc="-5" dirty="0"/>
              <a:t> </a:t>
            </a:r>
            <a:r>
              <a:rPr dirty="0"/>
              <a:t>in this</a:t>
            </a:r>
            <a:r>
              <a:rPr spc="-5" dirty="0"/>
              <a:t> </a:t>
            </a:r>
            <a:r>
              <a:rPr dirty="0"/>
              <a:t>document</a:t>
            </a:r>
            <a:r>
              <a:rPr spc="-10" dirty="0"/>
              <a:t> belongs</a:t>
            </a:r>
            <a:r>
              <a:rPr spc="-5" dirty="0"/>
              <a:t> </a:t>
            </a:r>
            <a:r>
              <a:rPr dirty="0"/>
              <a:t>to</a:t>
            </a:r>
            <a:r>
              <a:rPr spc="-10" dirty="0"/>
              <a:t> </a:t>
            </a:r>
            <a:r>
              <a:rPr dirty="0"/>
              <a:t>Boston Institute</a:t>
            </a:r>
            <a:r>
              <a:rPr spc="-50" dirty="0"/>
              <a:t> </a:t>
            </a:r>
            <a:r>
              <a:rPr dirty="0"/>
              <a:t>of</a:t>
            </a:r>
            <a:r>
              <a:rPr spc="25" dirty="0"/>
              <a:t> </a:t>
            </a:r>
            <a:r>
              <a:rPr spc="-10" dirty="0"/>
              <a:t>Analytics</a:t>
            </a:r>
            <a:r>
              <a:rPr spc="-5" dirty="0"/>
              <a:t> </a:t>
            </a:r>
            <a:r>
              <a:rPr dirty="0"/>
              <a:t>LLC.</a:t>
            </a:r>
            <a:r>
              <a:rPr spc="10" dirty="0"/>
              <a:t> </a:t>
            </a:r>
            <a:r>
              <a:rPr dirty="0"/>
              <a:t>Any </a:t>
            </a:r>
            <a:r>
              <a:rPr spc="-10" dirty="0"/>
              <a:t>unauthorized</a:t>
            </a:r>
            <a:r>
              <a:rPr dirty="0"/>
              <a:t> sharing</a:t>
            </a:r>
            <a:r>
              <a:rPr spc="-15" dirty="0"/>
              <a:t> </a:t>
            </a:r>
            <a:r>
              <a:rPr dirty="0"/>
              <a:t>of</a:t>
            </a:r>
            <a:r>
              <a:rPr spc="25" dirty="0"/>
              <a:t> </a:t>
            </a:r>
            <a:r>
              <a:rPr spc="-20" dirty="0"/>
              <a:t>this </a:t>
            </a:r>
            <a:r>
              <a:rPr dirty="0"/>
              <a:t>material</a:t>
            </a:r>
            <a:r>
              <a:rPr spc="10" dirty="0"/>
              <a:t> </a:t>
            </a:r>
            <a:r>
              <a:rPr dirty="0"/>
              <a:t>is</a:t>
            </a:r>
            <a:r>
              <a:rPr spc="-25" dirty="0"/>
              <a:t> </a:t>
            </a:r>
            <a:r>
              <a:rPr dirty="0"/>
              <a:t>prohibited</a:t>
            </a:r>
            <a:r>
              <a:rPr spc="-25" dirty="0"/>
              <a:t> </a:t>
            </a:r>
            <a:r>
              <a:rPr dirty="0"/>
              <a:t>and</a:t>
            </a:r>
            <a:r>
              <a:rPr spc="-20" dirty="0"/>
              <a:t> </a:t>
            </a:r>
            <a:r>
              <a:rPr dirty="0"/>
              <a:t>subject</a:t>
            </a:r>
            <a:r>
              <a:rPr spc="-35" dirty="0"/>
              <a:t> </a:t>
            </a:r>
            <a:r>
              <a:rPr dirty="0"/>
              <a:t>to</a:t>
            </a:r>
            <a:r>
              <a:rPr spc="-25" dirty="0"/>
              <a:t> </a:t>
            </a:r>
            <a:r>
              <a:rPr dirty="0"/>
              <a:t>legal</a:t>
            </a:r>
            <a:r>
              <a:rPr spc="10" dirty="0"/>
              <a:t> </a:t>
            </a:r>
            <a:r>
              <a:rPr dirty="0"/>
              <a:t>action</a:t>
            </a:r>
            <a:r>
              <a:rPr spc="-25" dirty="0"/>
              <a:t> </a:t>
            </a:r>
            <a:r>
              <a:rPr dirty="0"/>
              <a:t>under</a:t>
            </a:r>
            <a:r>
              <a:rPr spc="25" dirty="0"/>
              <a:t> </a:t>
            </a:r>
            <a:r>
              <a:rPr dirty="0"/>
              <a:t>breach</a:t>
            </a:r>
            <a:r>
              <a:rPr spc="-20" dirty="0"/>
              <a:t> </a:t>
            </a:r>
            <a:r>
              <a:rPr dirty="0"/>
              <a:t>of IP</a:t>
            </a:r>
            <a:r>
              <a:rPr spc="-15" dirty="0"/>
              <a:t> </a:t>
            </a:r>
            <a:r>
              <a:rPr dirty="0"/>
              <a:t>and</a:t>
            </a:r>
            <a:r>
              <a:rPr spc="-20" dirty="0"/>
              <a:t> </a:t>
            </a:r>
            <a:r>
              <a:rPr spc="-10" dirty="0"/>
              <a:t>confidentiality</a:t>
            </a:r>
            <a:r>
              <a:rPr spc="-15" dirty="0"/>
              <a:t> </a:t>
            </a:r>
            <a:r>
              <a:rPr spc="-10" dirty="0"/>
              <a:t>clauses.</a:t>
            </a:r>
          </a:p>
        </p:txBody>
      </p:sp>
      <p:sp>
        <p:nvSpPr>
          <p:cNvPr id="3" name="object 3"/>
          <p:cNvSpPr txBox="1"/>
          <p:nvPr/>
        </p:nvSpPr>
        <p:spPr>
          <a:xfrm>
            <a:off x="758190" y="1604717"/>
            <a:ext cx="9071610" cy="2946318"/>
          </a:xfrm>
          <a:prstGeom prst="rect">
            <a:avLst/>
          </a:prstGeom>
        </p:spPr>
        <p:txBody>
          <a:bodyPr vert="horz" wrap="square" lIns="0" tIns="55244" rIns="0" bIns="0" rtlCol="0">
            <a:spAutoFit/>
          </a:bodyPr>
          <a:lstStyle/>
          <a:p>
            <a:pPr marL="469900" indent="-457200">
              <a:spcBef>
                <a:spcPts val="434"/>
              </a:spcBef>
              <a:buFont typeface="Arial" panose="020B0604020202020204" pitchFamily="34" charset="0"/>
              <a:buChar char="•"/>
              <a:tabLst>
                <a:tab pos="240665" algn="l"/>
              </a:tabLst>
            </a:pPr>
            <a:r>
              <a:rPr lang="en-US" sz="2800" b="1" dirty="0" smtClean="0">
                <a:solidFill>
                  <a:srgbClr val="171717"/>
                </a:solidFill>
                <a:latin typeface="Calibri"/>
                <a:cs typeface="Calibri"/>
              </a:rPr>
              <a:t>                    </a:t>
            </a:r>
            <a:r>
              <a:rPr lang="en-US" b="1" dirty="0" smtClean="0">
                <a:solidFill>
                  <a:srgbClr val="171717"/>
                </a:solidFill>
                <a:latin typeface="Calibri"/>
                <a:cs typeface="Calibri"/>
              </a:rPr>
              <a:t>Research.</a:t>
            </a:r>
            <a:endParaRPr lang="en-US" sz="1400" b="1" dirty="0">
              <a:latin typeface="Calibri"/>
              <a:cs typeface="Calibri"/>
            </a:endParaRPr>
          </a:p>
          <a:p>
            <a:pPr marL="12700">
              <a:spcBef>
                <a:spcPts val="434"/>
              </a:spcBef>
              <a:tabLst>
                <a:tab pos="240665" algn="l"/>
              </a:tabLst>
            </a:pPr>
            <a:r>
              <a:rPr lang="en-US" dirty="0" smtClean="0">
                <a:solidFill>
                  <a:srgbClr val="171717"/>
                </a:solidFill>
                <a:latin typeface="Calibri"/>
                <a:cs typeface="Calibri"/>
              </a:rPr>
              <a:t>                                       Data Collection-Gathering information about n/w s/y</a:t>
            </a:r>
            <a:endParaRPr sz="1800" dirty="0">
              <a:latin typeface="Calibri"/>
              <a:cs typeface="Calibri"/>
            </a:endParaRPr>
          </a:p>
          <a:p>
            <a:pPr marL="2070735" lvl="4" indent="-227965">
              <a:lnSpc>
                <a:spcPct val="100000"/>
              </a:lnSpc>
              <a:spcBef>
                <a:spcPts val="320"/>
              </a:spcBef>
              <a:buFont typeface="Arial MT"/>
              <a:buChar char="•"/>
              <a:tabLst>
                <a:tab pos="2070735" algn="l"/>
              </a:tabLst>
            </a:pPr>
            <a:r>
              <a:rPr lang="en-US" dirty="0" smtClean="0">
                <a:solidFill>
                  <a:srgbClr val="171717"/>
                </a:solidFill>
                <a:latin typeface="Calibri"/>
                <a:cs typeface="Calibri"/>
              </a:rPr>
              <a:t>Identify Vulnerabilities-Searching for weakness in the s/m</a:t>
            </a:r>
          </a:p>
          <a:p>
            <a:pPr marL="2070735" lvl="4" indent="-227965">
              <a:lnSpc>
                <a:spcPct val="100000"/>
              </a:lnSpc>
              <a:spcBef>
                <a:spcPts val="320"/>
              </a:spcBef>
              <a:buFont typeface="Arial MT"/>
              <a:buChar char="•"/>
              <a:tabLst>
                <a:tab pos="2070735" algn="l"/>
              </a:tabLst>
            </a:pPr>
            <a:r>
              <a:rPr lang="en-US" sz="1800" dirty="0" smtClean="0">
                <a:solidFill>
                  <a:srgbClr val="171717"/>
                </a:solidFill>
                <a:latin typeface="Calibri"/>
                <a:cs typeface="Calibri"/>
              </a:rPr>
              <a:t>Technology Analysis-Evaluating the current infrastructure.</a:t>
            </a:r>
          </a:p>
          <a:p>
            <a:pPr marL="2070735" lvl="4" indent="-227965">
              <a:lnSpc>
                <a:spcPct val="100000"/>
              </a:lnSpc>
              <a:spcBef>
                <a:spcPts val="320"/>
              </a:spcBef>
              <a:buFont typeface="Arial MT"/>
              <a:buChar char="•"/>
              <a:tabLst>
                <a:tab pos="2070735" algn="l"/>
              </a:tabLst>
            </a:pPr>
            <a:r>
              <a:rPr lang="en-US" dirty="0" smtClean="0">
                <a:solidFill>
                  <a:srgbClr val="171717"/>
                </a:solidFill>
                <a:latin typeface="Calibri"/>
                <a:cs typeface="Calibri"/>
              </a:rPr>
              <a:t>Port and Server Server Security-Port security blocks unauthorized n/w traffic.</a:t>
            </a:r>
          </a:p>
          <a:p>
            <a:pPr marL="2070735" lvl="4" indent="-227965">
              <a:lnSpc>
                <a:spcPct val="100000"/>
              </a:lnSpc>
              <a:spcBef>
                <a:spcPts val="320"/>
              </a:spcBef>
              <a:buFont typeface="Arial MT"/>
              <a:buChar char="•"/>
              <a:tabLst>
                <a:tab pos="2070735" algn="l"/>
              </a:tabLst>
            </a:pPr>
            <a:r>
              <a:rPr lang="en-US" sz="1800" dirty="0" smtClean="0">
                <a:solidFill>
                  <a:srgbClr val="171717"/>
                </a:solidFill>
                <a:latin typeface="Calibri"/>
                <a:cs typeface="Calibri"/>
              </a:rPr>
              <a:t>Recommendation-Proposing specific solutions to fix weakness.</a:t>
            </a:r>
          </a:p>
          <a:p>
            <a:pPr marL="2070735" lvl="4" indent="-227965">
              <a:lnSpc>
                <a:spcPct val="100000"/>
              </a:lnSpc>
              <a:spcBef>
                <a:spcPts val="320"/>
              </a:spcBef>
              <a:buFont typeface="Arial MT"/>
              <a:buChar char="•"/>
              <a:tabLst>
                <a:tab pos="2070735" algn="l"/>
              </a:tabLst>
            </a:pPr>
            <a:r>
              <a:rPr lang="en-US" dirty="0" smtClean="0">
                <a:solidFill>
                  <a:srgbClr val="171717"/>
                </a:solidFill>
                <a:latin typeface="Calibri"/>
                <a:cs typeface="Calibri"/>
              </a:rPr>
              <a:t>Presentation-Sharing finding with stakeholders or management, roadmap for security, clear visuals and non technical language.</a:t>
            </a:r>
            <a:endParaRPr sz="1800" dirty="0">
              <a:latin typeface="Calibri"/>
              <a:cs typeface="Calibri"/>
            </a:endParaRP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object 2"/>
          <p:cNvGrpSpPr/>
          <p:nvPr/>
        </p:nvGrpSpPr>
        <p:grpSpPr>
          <a:xfrm>
            <a:off x="6094476" y="-1587"/>
            <a:ext cx="6104255" cy="6866255"/>
            <a:chOff x="6094476" y="-1587"/>
            <a:chExt cx="6104255" cy="6866255"/>
          </a:xfrm>
        </p:grpSpPr>
        <p:sp>
          <p:nvSpPr>
            <p:cNvPr id="3" name="object 3"/>
            <p:cNvSpPr/>
            <p:nvPr/>
          </p:nvSpPr>
          <p:spPr>
            <a:xfrm>
              <a:off x="6100826" y="4762"/>
              <a:ext cx="6091555" cy="6853555"/>
            </a:xfrm>
            <a:custGeom>
              <a:avLst/>
              <a:gdLst/>
              <a:ahLst/>
              <a:cxnLst/>
              <a:rect l="l" t="t" r="r" b="b"/>
              <a:pathLst>
                <a:path w="6091555" h="6853555">
                  <a:moveTo>
                    <a:pt x="6091174" y="0"/>
                  </a:moveTo>
                  <a:lnTo>
                    <a:pt x="0" y="0"/>
                  </a:lnTo>
                  <a:lnTo>
                    <a:pt x="0" y="6853237"/>
                  </a:lnTo>
                  <a:lnTo>
                    <a:pt x="6091174" y="6853237"/>
                  </a:lnTo>
                  <a:lnTo>
                    <a:pt x="6091174" y="0"/>
                  </a:lnTo>
                  <a:close/>
                </a:path>
              </a:pathLst>
            </a:custGeom>
            <a:solidFill>
              <a:srgbClr val="1D1B57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4" name="object 4"/>
            <p:cNvSpPr/>
            <p:nvPr/>
          </p:nvSpPr>
          <p:spPr>
            <a:xfrm>
              <a:off x="6100826" y="4762"/>
              <a:ext cx="6091555" cy="6853555"/>
            </a:xfrm>
            <a:custGeom>
              <a:avLst/>
              <a:gdLst/>
              <a:ahLst/>
              <a:cxnLst/>
              <a:rect l="l" t="t" r="r" b="b"/>
              <a:pathLst>
                <a:path w="6091555" h="6853555">
                  <a:moveTo>
                    <a:pt x="6091174" y="0"/>
                  </a:moveTo>
                  <a:lnTo>
                    <a:pt x="0" y="0"/>
                  </a:lnTo>
                  <a:lnTo>
                    <a:pt x="0" y="6853237"/>
                  </a:lnTo>
                </a:path>
              </a:pathLst>
            </a:custGeom>
            <a:ln w="12700">
              <a:solidFill>
                <a:srgbClr val="1D1B57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5" name="object 5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9505950" y="6115050"/>
              <a:ext cx="1962150" cy="542925"/>
            </a:xfrm>
            <a:prstGeom prst="rect">
              <a:avLst/>
            </a:prstGeom>
          </p:spPr>
        </p:pic>
      </p:grpSp>
      <p:sp>
        <p:nvSpPr>
          <p:cNvPr id="6" name="object 6"/>
          <p:cNvSpPr txBox="1">
            <a:spLocks noGrp="1"/>
          </p:cNvSpPr>
          <p:nvPr>
            <p:ph type="ftr" sz="quarter" idx="5"/>
          </p:nvPr>
        </p:nvSpPr>
        <p:spPr>
          <a:prstGeom prst="rect">
            <a:avLst/>
          </a:prstGeom>
        </p:spPr>
        <p:txBody>
          <a:bodyPr vert="horz" wrap="square" lIns="0" tIns="19050" rIns="0" bIns="0" rtlCol="0">
            <a:spAutoFit/>
          </a:bodyPr>
          <a:lstStyle/>
          <a:p>
            <a:pPr marL="12700" marR="5080">
              <a:lnSpc>
                <a:spcPts val="1280"/>
              </a:lnSpc>
              <a:spcBef>
                <a:spcPts val="150"/>
              </a:spcBef>
            </a:pPr>
            <a:r>
              <a:rPr b="1" spc="-10" dirty="0">
                <a:latin typeface="Calibri"/>
                <a:cs typeface="Calibri"/>
              </a:rPr>
              <a:t>CONFIDENTIAL</a:t>
            </a:r>
            <a:r>
              <a:rPr spc="-10" dirty="0"/>
              <a:t>: </a:t>
            </a:r>
            <a:r>
              <a:rPr dirty="0"/>
              <a:t>The</a:t>
            </a:r>
            <a:r>
              <a:rPr spc="30" dirty="0"/>
              <a:t> </a:t>
            </a:r>
            <a:r>
              <a:rPr dirty="0"/>
              <a:t>information</a:t>
            </a:r>
            <a:r>
              <a:rPr spc="-5" dirty="0"/>
              <a:t> </a:t>
            </a:r>
            <a:r>
              <a:rPr dirty="0"/>
              <a:t>in this</a:t>
            </a:r>
            <a:r>
              <a:rPr spc="-5" dirty="0"/>
              <a:t> </a:t>
            </a:r>
            <a:r>
              <a:rPr dirty="0"/>
              <a:t>document</a:t>
            </a:r>
            <a:r>
              <a:rPr spc="-10" dirty="0"/>
              <a:t> belongs</a:t>
            </a:r>
            <a:r>
              <a:rPr spc="-5" dirty="0"/>
              <a:t> </a:t>
            </a:r>
            <a:r>
              <a:rPr dirty="0"/>
              <a:t>to</a:t>
            </a:r>
            <a:r>
              <a:rPr spc="-10" dirty="0"/>
              <a:t> </a:t>
            </a:r>
            <a:r>
              <a:rPr dirty="0"/>
              <a:t>Boston Institute</a:t>
            </a:r>
            <a:r>
              <a:rPr spc="-50" dirty="0"/>
              <a:t> </a:t>
            </a:r>
            <a:r>
              <a:rPr dirty="0"/>
              <a:t>of</a:t>
            </a:r>
            <a:r>
              <a:rPr spc="25" dirty="0"/>
              <a:t> </a:t>
            </a:r>
            <a:r>
              <a:rPr spc="-10" dirty="0"/>
              <a:t>Analytics</a:t>
            </a:r>
            <a:r>
              <a:rPr spc="-5" dirty="0"/>
              <a:t> </a:t>
            </a:r>
            <a:r>
              <a:rPr dirty="0"/>
              <a:t>LLC.</a:t>
            </a:r>
            <a:r>
              <a:rPr spc="10" dirty="0"/>
              <a:t> </a:t>
            </a:r>
            <a:r>
              <a:rPr dirty="0"/>
              <a:t>Any </a:t>
            </a:r>
            <a:r>
              <a:rPr spc="-10" dirty="0"/>
              <a:t>unauthorized</a:t>
            </a:r>
            <a:r>
              <a:rPr dirty="0"/>
              <a:t> sharing</a:t>
            </a:r>
            <a:r>
              <a:rPr spc="-15" dirty="0"/>
              <a:t> </a:t>
            </a:r>
            <a:r>
              <a:rPr dirty="0"/>
              <a:t>of</a:t>
            </a:r>
            <a:r>
              <a:rPr spc="25" dirty="0"/>
              <a:t> </a:t>
            </a:r>
            <a:r>
              <a:rPr spc="-20" dirty="0"/>
              <a:t>this </a:t>
            </a:r>
            <a:r>
              <a:rPr dirty="0"/>
              <a:t>material</a:t>
            </a:r>
            <a:r>
              <a:rPr spc="10" dirty="0"/>
              <a:t> </a:t>
            </a:r>
            <a:r>
              <a:rPr dirty="0"/>
              <a:t>is</a:t>
            </a:r>
            <a:r>
              <a:rPr spc="-25" dirty="0"/>
              <a:t> </a:t>
            </a:r>
            <a:r>
              <a:rPr dirty="0"/>
              <a:t>prohibited</a:t>
            </a:r>
            <a:r>
              <a:rPr spc="-25" dirty="0"/>
              <a:t> </a:t>
            </a:r>
            <a:r>
              <a:rPr dirty="0"/>
              <a:t>and</a:t>
            </a:r>
            <a:r>
              <a:rPr spc="-20" dirty="0"/>
              <a:t> </a:t>
            </a:r>
            <a:r>
              <a:rPr dirty="0"/>
              <a:t>subject</a:t>
            </a:r>
            <a:r>
              <a:rPr spc="-35" dirty="0"/>
              <a:t> </a:t>
            </a:r>
            <a:r>
              <a:rPr dirty="0"/>
              <a:t>to</a:t>
            </a:r>
            <a:r>
              <a:rPr spc="-25" dirty="0"/>
              <a:t> </a:t>
            </a:r>
            <a:r>
              <a:rPr dirty="0"/>
              <a:t>legal</a:t>
            </a:r>
            <a:r>
              <a:rPr spc="10" dirty="0"/>
              <a:t> </a:t>
            </a:r>
            <a:r>
              <a:rPr dirty="0"/>
              <a:t>action</a:t>
            </a:r>
            <a:r>
              <a:rPr spc="-25" dirty="0"/>
              <a:t> </a:t>
            </a:r>
            <a:r>
              <a:rPr dirty="0"/>
              <a:t>under</a:t>
            </a:r>
            <a:r>
              <a:rPr spc="25" dirty="0"/>
              <a:t> </a:t>
            </a:r>
            <a:r>
              <a:rPr dirty="0"/>
              <a:t>breach</a:t>
            </a:r>
            <a:r>
              <a:rPr spc="-20" dirty="0"/>
              <a:t> </a:t>
            </a:r>
            <a:r>
              <a:rPr dirty="0"/>
              <a:t>of IP</a:t>
            </a:r>
            <a:r>
              <a:rPr spc="-15" dirty="0"/>
              <a:t> </a:t>
            </a:r>
            <a:r>
              <a:rPr dirty="0"/>
              <a:t>and</a:t>
            </a:r>
            <a:r>
              <a:rPr spc="-20" dirty="0"/>
              <a:t> </a:t>
            </a:r>
            <a:r>
              <a:rPr spc="-10" dirty="0"/>
              <a:t>confidentiality</a:t>
            </a:r>
            <a:r>
              <a:rPr spc="-15" dirty="0"/>
              <a:t> </a:t>
            </a:r>
            <a:r>
              <a:rPr spc="-10" dirty="0"/>
              <a:t>clauses.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990600" y="1143000"/>
            <a:ext cx="4953000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 smtClean="0"/>
              <a:t>TARGET SITE:-</a:t>
            </a:r>
          </a:p>
          <a:p>
            <a:r>
              <a:rPr lang="en-US" dirty="0" smtClean="0">
                <a:hlinkClick r:id="rId3"/>
              </a:rPr>
              <a:t>www.royalenfield.com</a:t>
            </a:r>
            <a:endParaRPr lang="en-US" dirty="0" smtClean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object 2"/>
          <p:cNvGrpSpPr/>
          <p:nvPr/>
        </p:nvGrpSpPr>
        <p:grpSpPr>
          <a:xfrm>
            <a:off x="-1586" y="-1523"/>
            <a:ext cx="4128135" cy="6866255"/>
            <a:chOff x="-1586" y="-1523"/>
            <a:chExt cx="4128135" cy="6866255"/>
          </a:xfrm>
        </p:grpSpPr>
        <p:sp>
          <p:nvSpPr>
            <p:cNvPr id="3" name="object 3"/>
            <p:cNvSpPr/>
            <p:nvPr/>
          </p:nvSpPr>
          <p:spPr>
            <a:xfrm>
              <a:off x="4763" y="4826"/>
              <a:ext cx="4115435" cy="6853555"/>
            </a:xfrm>
            <a:custGeom>
              <a:avLst/>
              <a:gdLst/>
              <a:ahLst/>
              <a:cxnLst/>
              <a:rect l="l" t="t" r="r" b="b"/>
              <a:pathLst>
                <a:path w="4115435" h="6853555">
                  <a:moveTo>
                    <a:pt x="3454462" y="0"/>
                  </a:moveTo>
                  <a:lnTo>
                    <a:pt x="0" y="0"/>
                  </a:lnTo>
                  <a:lnTo>
                    <a:pt x="0" y="6853174"/>
                  </a:lnTo>
                  <a:lnTo>
                    <a:pt x="3455380" y="6853174"/>
                  </a:lnTo>
                  <a:lnTo>
                    <a:pt x="4114862" y="3428873"/>
                  </a:lnTo>
                  <a:lnTo>
                    <a:pt x="3454462" y="0"/>
                  </a:lnTo>
                  <a:close/>
                </a:path>
              </a:pathLst>
            </a:custGeom>
            <a:solidFill>
              <a:srgbClr val="1D1B57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4" name="object 4"/>
            <p:cNvSpPr/>
            <p:nvPr/>
          </p:nvSpPr>
          <p:spPr>
            <a:xfrm>
              <a:off x="4763" y="4826"/>
              <a:ext cx="4115435" cy="6853555"/>
            </a:xfrm>
            <a:custGeom>
              <a:avLst/>
              <a:gdLst/>
              <a:ahLst/>
              <a:cxnLst/>
              <a:rect l="l" t="t" r="r" b="b"/>
              <a:pathLst>
                <a:path w="4115435" h="6853555">
                  <a:moveTo>
                    <a:pt x="0" y="6853174"/>
                  </a:moveTo>
                  <a:lnTo>
                    <a:pt x="0" y="0"/>
                  </a:lnTo>
                  <a:lnTo>
                    <a:pt x="3454462" y="0"/>
                  </a:lnTo>
                  <a:lnTo>
                    <a:pt x="4114862" y="3428873"/>
                  </a:lnTo>
                  <a:lnTo>
                    <a:pt x="3455380" y="6853174"/>
                  </a:lnTo>
                </a:path>
              </a:pathLst>
            </a:custGeom>
            <a:ln w="12700">
              <a:solidFill>
                <a:srgbClr val="1D1B57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5" name="object 5" descr="$PPTXTitle"/>
          <p:cNvSpPr txBox="1">
            <a:spLocks noGrp="1"/>
          </p:cNvSpPr>
          <p:nvPr>
            <p:ph type="title"/>
          </p:nvPr>
        </p:nvSpPr>
        <p:spPr>
          <a:xfrm>
            <a:off x="758190" y="2644139"/>
            <a:ext cx="2127250" cy="1475740"/>
          </a:xfrm>
          <a:prstGeom prst="rect">
            <a:avLst/>
          </a:prstGeom>
        </p:spPr>
        <p:txBody>
          <a:bodyPr vert="horz" wrap="square" lIns="0" tIns="67945" rIns="0" bIns="0" rtlCol="0">
            <a:spAutoFit/>
          </a:bodyPr>
          <a:lstStyle/>
          <a:p>
            <a:pPr marL="12700" marR="5080" algn="just">
              <a:lnSpc>
                <a:spcPts val="3679"/>
              </a:lnSpc>
              <a:spcBef>
                <a:spcPts val="535"/>
              </a:spcBef>
            </a:pPr>
            <a:r>
              <a:rPr dirty="0">
                <a:solidFill>
                  <a:srgbClr val="FFFFFF"/>
                </a:solidFill>
              </a:rPr>
              <a:t>Click</a:t>
            </a:r>
            <a:r>
              <a:rPr spc="35" dirty="0">
                <a:solidFill>
                  <a:srgbClr val="FFFFFF"/>
                </a:solidFill>
              </a:rPr>
              <a:t> </a:t>
            </a:r>
            <a:r>
              <a:rPr dirty="0">
                <a:solidFill>
                  <a:srgbClr val="FFFFFF"/>
                </a:solidFill>
              </a:rPr>
              <a:t>to</a:t>
            </a:r>
            <a:r>
              <a:rPr spc="-15" dirty="0">
                <a:solidFill>
                  <a:srgbClr val="FFFFFF"/>
                </a:solidFill>
              </a:rPr>
              <a:t> </a:t>
            </a:r>
            <a:r>
              <a:rPr spc="-20" dirty="0">
                <a:solidFill>
                  <a:srgbClr val="FFFFFF"/>
                </a:solidFill>
              </a:rPr>
              <a:t>edit </a:t>
            </a:r>
            <a:r>
              <a:rPr dirty="0">
                <a:solidFill>
                  <a:srgbClr val="FFFFFF"/>
                </a:solidFill>
              </a:rPr>
              <a:t>Master</a:t>
            </a:r>
            <a:r>
              <a:rPr spc="5" dirty="0">
                <a:solidFill>
                  <a:srgbClr val="FFFFFF"/>
                </a:solidFill>
              </a:rPr>
              <a:t> </a:t>
            </a:r>
            <a:r>
              <a:rPr spc="-10" dirty="0">
                <a:solidFill>
                  <a:srgbClr val="FFFFFF"/>
                </a:solidFill>
              </a:rPr>
              <a:t>title style</a:t>
            </a:r>
          </a:p>
        </p:txBody>
      </p:sp>
      <p:sp>
        <p:nvSpPr>
          <p:cNvPr id="6" name="object 6"/>
          <p:cNvSpPr txBox="1">
            <a:spLocks noGrp="1"/>
          </p:cNvSpPr>
          <p:nvPr>
            <p:ph type="ftr" sz="quarter" idx="5"/>
          </p:nvPr>
        </p:nvSpPr>
        <p:spPr>
          <a:prstGeom prst="rect">
            <a:avLst/>
          </a:prstGeom>
        </p:spPr>
        <p:txBody>
          <a:bodyPr vert="horz" wrap="square" lIns="0" tIns="19050" rIns="0" bIns="0" rtlCol="0">
            <a:spAutoFit/>
          </a:bodyPr>
          <a:lstStyle/>
          <a:p>
            <a:pPr marL="12700" marR="5080">
              <a:lnSpc>
                <a:spcPts val="1280"/>
              </a:lnSpc>
              <a:spcBef>
                <a:spcPts val="150"/>
              </a:spcBef>
            </a:pPr>
            <a:r>
              <a:rPr b="1" spc="-10" dirty="0">
                <a:latin typeface="Calibri"/>
                <a:cs typeface="Calibri"/>
              </a:rPr>
              <a:t>CONFIDENTIAL</a:t>
            </a:r>
            <a:r>
              <a:rPr spc="-10" dirty="0"/>
              <a:t>: </a:t>
            </a:r>
            <a:r>
              <a:rPr dirty="0"/>
              <a:t>The</a:t>
            </a:r>
            <a:r>
              <a:rPr spc="30" dirty="0"/>
              <a:t> </a:t>
            </a:r>
            <a:r>
              <a:rPr dirty="0"/>
              <a:t>information</a:t>
            </a:r>
            <a:r>
              <a:rPr spc="-5" dirty="0"/>
              <a:t> </a:t>
            </a:r>
            <a:r>
              <a:rPr dirty="0"/>
              <a:t>in this</a:t>
            </a:r>
            <a:r>
              <a:rPr spc="-5" dirty="0"/>
              <a:t> </a:t>
            </a:r>
            <a:r>
              <a:rPr dirty="0"/>
              <a:t>document</a:t>
            </a:r>
            <a:r>
              <a:rPr spc="-10" dirty="0"/>
              <a:t> belongs</a:t>
            </a:r>
            <a:r>
              <a:rPr spc="-5" dirty="0"/>
              <a:t> </a:t>
            </a:r>
            <a:r>
              <a:rPr dirty="0"/>
              <a:t>to</a:t>
            </a:r>
            <a:r>
              <a:rPr spc="-10" dirty="0"/>
              <a:t> </a:t>
            </a:r>
            <a:r>
              <a:rPr dirty="0"/>
              <a:t>Boston Institute</a:t>
            </a:r>
            <a:r>
              <a:rPr spc="-50" dirty="0"/>
              <a:t> </a:t>
            </a:r>
            <a:r>
              <a:rPr dirty="0"/>
              <a:t>of</a:t>
            </a:r>
            <a:r>
              <a:rPr spc="25" dirty="0"/>
              <a:t> </a:t>
            </a:r>
            <a:r>
              <a:rPr spc="-10" dirty="0"/>
              <a:t>Analytics</a:t>
            </a:r>
            <a:r>
              <a:rPr spc="-5" dirty="0"/>
              <a:t> </a:t>
            </a:r>
            <a:r>
              <a:rPr dirty="0"/>
              <a:t>LLC.</a:t>
            </a:r>
            <a:r>
              <a:rPr spc="10" dirty="0"/>
              <a:t> </a:t>
            </a:r>
            <a:r>
              <a:rPr dirty="0"/>
              <a:t>Any </a:t>
            </a:r>
            <a:r>
              <a:rPr spc="-10" dirty="0"/>
              <a:t>unauthorized</a:t>
            </a:r>
            <a:r>
              <a:rPr dirty="0"/>
              <a:t> sharing</a:t>
            </a:r>
            <a:r>
              <a:rPr spc="-15" dirty="0"/>
              <a:t> </a:t>
            </a:r>
            <a:r>
              <a:rPr dirty="0"/>
              <a:t>of</a:t>
            </a:r>
            <a:r>
              <a:rPr spc="25" dirty="0"/>
              <a:t> </a:t>
            </a:r>
            <a:r>
              <a:rPr spc="-20" dirty="0"/>
              <a:t>this </a:t>
            </a:r>
            <a:r>
              <a:rPr dirty="0"/>
              <a:t>material</a:t>
            </a:r>
            <a:r>
              <a:rPr spc="10" dirty="0"/>
              <a:t> </a:t>
            </a:r>
            <a:r>
              <a:rPr dirty="0"/>
              <a:t>is</a:t>
            </a:r>
            <a:r>
              <a:rPr spc="-25" dirty="0"/>
              <a:t> </a:t>
            </a:r>
            <a:r>
              <a:rPr dirty="0"/>
              <a:t>prohibited</a:t>
            </a:r>
            <a:r>
              <a:rPr spc="-25" dirty="0"/>
              <a:t> </a:t>
            </a:r>
            <a:r>
              <a:rPr dirty="0"/>
              <a:t>and</a:t>
            </a:r>
            <a:r>
              <a:rPr spc="-20" dirty="0"/>
              <a:t> </a:t>
            </a:r>
            <a:r>
              <a:rPr dirty="0"/>
              <a:t>subject</a:t>
            </a:r>
            <a:r>
              <a:rPr spc="-35" dirty="0"/>
              <a:t> </a:t>
            </a:r>
            <a:r>
              <a:rPr dirty="0"/>
              <a:t>to</a:t>
            </a:r>
            <a:r>
              <a:rPr spc="-25" dirty="0"/>
              <a:t> </a:t>
            </a:r>
            <a:r>
              <a:rPr dirty="0"/>
              <a:t>legal</a:t>
            </a:r>
            <a:r>
              <a:rPr spc="10" dirty="0"/>
              <a:t> </a:t>
            </a:r>
            <a:r>
              <a:rPr dirty="0"/>
              <a:t>action</a:t>
            </a:r>
            <a:r>
              <a:rPr spc="-25" dirty="0"/>
              <a:t> </a:t>
            </a:r>
            <a:r>
              <a:rPr dirty="0"/>
              <a:t>under</a:t>
            </a:r>
            <a:r>
              <a:rPr spc="25" dirty="0"/>
              <a:t> </a:t>
            </a:r>
            <a:r>
              <a:rPr dirty="0"/>
              <a:t>breach</a:t>
            </a:r>
            <a:r>
              <a:rPr spc="-20" dirty="0"/>
              <a:t> </a:t>
            </a:r>
            <a:r>
              <a:rPr dirty="0"/>
              <a:t>of IP</a:t>
            </a:r>
            <a:r>
              <a:rPr spc="-15" dirty="0"/>
              <a:t> </a:t>
            </a:r>
            <a:r>
              <a:rPr dirty="0"/>
              <a:t>and</a:t>
            </a:r>
            <a:r>
              <a:rPr spc="-20" dirty="0"/>
              <a:t> </a:t>
            </a:r>
            <a:r>
              <a:rPr spc="-10" dirty="0"/>
              <a:t>confidentiality</a:t>
            </a:r>
            <a:r>
              <a:rPr spc="-15" dirty="0"/>
              <a:t> </a:t>
            </a:r>
            <a:r>
              <a:rPr spc="-10" dirty="0"/>
              <a:t>clauses.</a:t>
            </a:r>
          </a:p>
        </p:txBody>
      </p:sp>
      <p:pic>
        <p:nvPicPr>
          <p:cNvPr id="8" name="Picture 7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910496" y="76200"/>
            <a:ext cx="6782747" cy="2657846"/>
          </a:xfrm>
          <a:prstGeom prst="rect">
            <a:avLst/>
          </a:prstGeom>
        </p:spPr>
      </p:pic>
      <p:pic>
        <p:nvPicPr>
          <p:cNvPr id="9" name="Picture 8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562600" y="2545654"/>
            <a:ext cx="1695687" cy="885949"/>
          </a:xfrm>
          <a:prstGeom prst="rect">
            <a:avLst/>
          </a:prstGeom>
        </p:spPr>
      </p:pic>
      <p:pic>
        <p:nvPicPr>
          <p:cNvPr id="7" name="Picture 6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285326" y="2734046"/>
            <a:ext cx="4610743" cy="2019582"/>
          </a:xfrm>
          <a:prstGeom prst="rect">
            <a:avLst/>
          </a:prstGeom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 descr="$PPTXTitle"/>
          <p:cNvSpPr txBox="1">
            <a:spLocks noGrp="1"/>
          </p:cNvSpPr>
          <p:nvPr>
            <p:ph type="ctrTitle"/>
          </p:nvPr>
        </p:nvSpPr>
        <p:spPr>
          <a:xfrm>
            <a:off x="1585336" y="350177"/>
            <a:ext cx="4586863" cy="532197"/>
          </a:xfrm>
          <a:prstGeom prst="rect">
            <a:avLst/>
          </a:prstGeom>
        </p:spPr>
        <p:txBody>
          <a:bodyPr vert="horz" wrap="square" lIns="0" tIns="1651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30"/>
              </a:spcBef>
            </a:pPr>
            <a:r>
              <a:rPr spc="-10" dirty="0" err="1" smtClean="0"/>
              <a:t>Title</a:t>
            </a:r>
            <a:r>
              <a:rPr lang="en-US" spc="-10" dirty="0" err="1" smtClean="0"/>
              <a:t>_About</a:t>
            </a:r>
            <a:r>
              <a:rPr lang="en-US" spc="-10" dirty="0" smtClean="0"/>
              <a:t> The Tools</a:t>
            </a:r>
            <a:endParaRPr spc="-10" dirty="0"/>
          </a:p>
        </p:txBody>
      </p:sp>
      <p:sp>
        <p:nvSpPr>
          <p:cNvPr id="4" name="object 4"/>
          <p:cNvSpPr txBox="1">
            <a:spLocks noGrp="1"/>
          </p:cNvSpPr>
          <p:nvPr>
            <p:ph type="ftr" sz="quarter" idx="5"/>
          </p:nvPr>
        </p:nvSpPr>
        <p:spPr>
          <a:prstGeom prst="rect">
            <a:avLst/>
          </a:prstGeom>
        </p:spPr>
        <p:txBody>
          <a:bodyPr vert="horz" wrap="square" lIns="0" tIns="19050" rIns="0" bIns="0" rtlCol="0">
            <a:spAutoFit/>
          </a:bodyPr>
          <a:lstStyle/>
          <a:p>
            <a:pPr marL="12700" marR="5080">
              <a:lnSpc>
                <a:spcPts val="1280"/>
              </a:lnSpc>
              <a:spcBef>
                <a:spcPts val="150"/>
              </a:spcBef>
            </a:pPr>
            <a:r>
              <a:rPr b="1" spc="-10" dirty="0">
                <a:latin typeface="Calibri"/>
                <a:cs typeface="Calibri"/>
              </a:rPr>
              <a:t>CONFIDENTIAL</a:t>
            </a:r>
            <a:r>
              <a:rPr spc="-10" dirty="0"/>
              <a:t>: </a:t>
            </a:r>
            <a:r>
              <a:rPr dirty="0"/>
              <a:t>The</a:t>
            </a:r>
            <a:r>
              <a:rPr spc="30" dirty="0"/>
              <a:t> </a:t>
            </a:r>
            <a:r>
              <a:rPr dirty="0"/>
              <a:t>information</a:t>
            </a:r>
            <a:r>
              <a:rPr spc="-5" dirty="0"/>
              <a:t> </a:t>
            </a:r>
            <a:r>
              <a:rPr dirty="0"/>
              <a:t>in this</a:t>
            </a:r>
            <a:r>
              <a:rPr spc="-5" dirty="0"/>
              <a:t> </a:t>
            </a:r>
            <a:r>
              <a:rPr dirty="0"/>
              <a:t>document</a:t>
            </a:r>
            <a:r>
              <a:rPr spc="-10" dirty="0"/>
              <a:t> belongs</a:t>
            </a:r>
            <a:r>
              <a:rPr spc="-5" dirty="0"/>
              <a:t> </a:t>
            </a:r>
            <a:r>
              <a:rPr dirty="0"/>
              <a:t>to</a:t>
            </a:r>
            <a:r>
              <a:rPr spc="-10" dirty="0"/>
              <a:t> </a:t>
            </a:r>
            <a:r>
              <a:rPr dirty="0"/>
              <a:t>Boston Institute</a:t>
            </a:r>
            <a:r>
              <a:rPr spc="-50" dirty="0"/>
              <a:t> </a:t>
            </a:r>
            <a:r>
              <a:rPr dirty="0"/>
              <a:t>of</a:t>
            </a:r>
            <a:r>
              <a:rPr spc="25" dirty="0"/>
              <a:t> </a:t>
            </a:r>
            <a:r>
              <a:rPr spc="-10" dirty="0"/>
              <a:t>Analytics</a:t>
            </a:r>
            <a:r>
              <a:rPr spc="-5" dirty="0"/>
              <a:t> </a:t>
            </a:r>
            <a:r>
              <a:rPr dirty="0"/>
              <a:t>LLC.</a:t>
            </a:r>
            <a:r>
              <a:rPr spc="10" dirty="0"/>
              <a:t> </a:t>
            </a:r>
            <a:r>
              <a:rPr dirty="0"/>
              <a:t>Any </a:t>
            </a:r>
            <a:r>
              <a:rPr spc="-10" dirty="0"/>
              <a:t>unauthorized</a:t>
            </a:r>
            <a:r>
              <a:rPr dirty="0"/>
              <a:t> sharing</a:t>
            </a:r>
            <a:r>
              <a:rPr spc="-15" dirty="0"/>
              <a:t> </a:t>
            </a:r>
            <a:r>
              <a:rPr dirty="0"/>
              <a:t>of</a:t>
            </a:r>
            <a:r>
              <a:rPr spc="25" dirty="0"/>
              <a:t> </a:t>
            </a:r>
            <a:r>
              <a:rPr spc="-20" dirty="0"/>
              <a:t>this </a:t>
            </a:r>
            <a:r>
              <a:rPr dirty="0"/>
              <a:t>material</a:t>
            </a:r>
            <a:r>
              <a:rPr spc="10" dirty="0"/>
              <a:t> </a:t>
            </a:r>
            <a:r>
              <a:rPr dirty="0"/>
              <a:t>is</a:t>
            </a:r>
            <a:r>
              <a:rPr spc="-25" dirty="0"/>
              <a:t> </a:t>
            </a:r>
            <a:r>
              <a:rPr dirty="0"/>
              <a:t>prohibited</a:t>
            </a:r>
            <a:r>
              <a:rPr spc="-25" dirty="0"/>
              <a:t> </a:t>
            </a:r>
            <a:r>
              <a:rPr dirty="0"/>
              <a:t>and</a:t>
            </a:r>
            <a:r>
              <a:rPr spc="-20" dirty="0"/>
              <a:t> </a:t>
            </a:r>
            <a:r>
              <a:rPr dirty="0"/>
              <a:t>subject</a:t>
            </a:r>
            <a:r>
              <a:rPr spc="-35" dirty="0"/>
              <a:t> </a:t>
            </a:r>
            <a:r>
              <a:rPr dirty="0"/>
              <a:t>to</a:t>
            </a:r>
            <a:r>
              <a:rPr spc="-25" dirty="0"/>
              <a:t> </a:t>
            </a:r>
            <a:r>
              <a:rPr dirty="0"/>
              <a:t>legal</a:t>
            </a:r>
            <a:r>
              <a:rPr spc="10" dirty="0"/>
              <a:t> </a:t>
            </a:r>
            <a:r>
              <a:rPr dirty="0"/>
              <a:t>action</a:t>
            </a:r>
            <a:r>
              <a:rPr spc="-25" dirty="0"/>
              <a:t> </a:t>
            </a:r>
            <a:r>
              <a:rPr dirty="0"/>
              <a:t>under</a:t>
            </a:r>
            <a:r>
              <a:rPr spc="25" dirty="0"/>
              <a:t> </a:t>
            </a:r>
            <a:r>
              <a:rPr dirty="0"/>
              <a:t>breach</a:t>
            </a:r>
            <a:r>
              <a:rPr spc="-20" dirty="0"/>
              <a:t> </a:t>
            </a:r>
            <a:r>
              <a:rPr dirty="0"/>
              <a:t>of IP</a:t>
            </a:r>
            <a:r>
              <a:rPr spc="-15" dirty="0"/>
              <a:t> </a:t>
            </a:r>
            <a:r>
              <a:rPr dirty="0"/>
              <a:t>and</a:t>
            </a:r>
            <a:r>
              <a:rPr spc="-20" dirty="0"/>
              <a:t> </a:t>
            </a:r>
            <a:r>
              <a:rPr spc="-10" dirty="0"/>
              <a:t>confidentiality</a:t>
            </a:r>
            <a:r>
              <a:rPr spc="-15" dirty="0"/>
              <a:t> </a:t>
            </a:r>
            <a:r>
              <a:rPr spc="-10" dirty="0"/>
              <a:t>clauses.</a:t>
            </a:r>
          </a:p>
        </p:txBody>
      </p:sp>
      <p:sp>
        <p:nvSpPr>
          <p:cNvPr id="3" name="object 3"/>
          <p:cNvSpPr txBox="1"/>
          <p:nvPr/>
        </p:nvSpPr>
        <p:spPr>
          <a:xfrm>
            <a:off x="666750" y="1617027"/>
            <a:ext cx="10077450" cy="2752677"/>
          </a:xfrm>
          <a:prstGeom prst="rect">
            <a:avLst/>
          </a:prstGeom>
        </p:spPr>
        <p:txBody>
          <a:bodyPr vert="horz" wrap="square" lIns="0" tIns="1587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25"/>
              </a:spcBef>
            </a:pPr>
            <a:endParaRPr lang="en-US" sz="2150" b="1" spc="-10" dirty="0" smtClean="0">
              <a:solidFill>
                <a:srgbClr val="161A3D"/>
              </a:solidFill>
              <a:latin typeface="Calibri"/>
              <a:cs typeface="Calibri"/>
            </a:endParaRPr>
          </a:p>
          <a:p>
            <a:pPr marL="12700">
              <a:lnSpc>
                <a:spcPct val="100000"/>
              </a:lnSpc>
              <a:spcBef>
                <a:spcPts val="125"/>
              </a:spcBef>
            </a:pPr>
            <a:endParaRPr lang="en-US" sz="2150" b="1" spc="-10" dirty="0">
              <a:solidFill>
                <a:srgbClr val="161A3D"/>
              </a:solidFill>
              <a:latin typeface="Calibri"/>
              <a:cs typeface="Calibri"/>
            </a:endParaRPr>
          </a:p>
          <a:p>
            <a:pPr marL="12700">
              <a:lnSpc>
                <a:spcPct val="100000"/>
              </a:lnSpc>
              <a:spcBef>
                <a:spcPts val="125"/>
              </a:spcBef>
            </a:pPr>
            <a:endParaRPr lang="en-US" sz="2150" b="1" spc="-10" dirty="0" smtClean="0">
              <a:solidFill>
                <a:srgbClr val="161A3D"/>
              </a:solidFill>
              <a:latin typeface="Calibri"/>
              <a:cs typeface="Calibri"/>
            </a:endParaRPr>
          </a:p>
          <a:p>
            <a:pPr marL="12700">
              <a:lnSpc>
                <a:spcPct val="100000"/>
              </a:lnSpc>
              <a:spcBef>
                <a:spcPts val="125"/>
              </a:spcBef>
            </a:pPr>
            <a:endParaRPr lang="en-US" sz="2150" b="1" spc="-10" dirty="0">
              <a:solidFill>
                <a:srgbClr val="161A3D"/>
              </a:solidFill>
              <a:latin typeface="Calibri"/>
              <a:cs typeface="Calibri"/>
            </a:endParaRPr>
          </a:p>
          <a:p>
            <a:pPr marL="12700">
              <a:lnSpc>
                <a:spcPct val="100000"/>
              </a:lnSpc>
              <a:spcBef>
                <a:spcPts val="125"/>
              </a:spcBef>
            </a:pPr>
            <a:endParaRPr lang="en-US" sz="2150" b="1" spc="-10" dirty="0" smtClean="0">
              <a:solidFill>
                <a:srgbClr val="161A3D"/>
              </a:solidFill>
              <a:latin typeface="Calibri"/>
              <a:cs typeface="Calibri"/>
            </a:endParaRPr>
          </a:p>
          <a:p>
            <a:pPr marL="12700">
              <a:lnSpc>
                <a:spcPct val="100000"/>
              </a:lnSpc>
              <a:spcBef>
                <a:spcPts val="125"/>
              </a:spcBef>
            </a:pPr>
            <a:endParaRPr lang="en-US" sz="2150" b="1" spc="-10" dirty="0">
              <a:solidFill>
                <a:srgbClr val="161A3D"/>
              </a:solidFill>
              <a:latin typeface="Calibri"/>
              <a:cs typeface="Calibri"/>
            </a:endParaRPr>
          </a:p>
          <a:p>
            <a:pPr marL="12700">
              <a:lnSpc>
                <a:spcPct val="100000"/>
              </a:lnSpc>
              <a:spcBef>
                <a:spcPts val="125"/>
              </a:spcBef>
            </a:pPr>
            <a:endParaRPr lang="en-US" sz="2150" b="1" spc="-10" dirty="0" smtClean="0">
              <a:solidFill>
                <a:srgbClr val="161A3D"/>
              </a:solidFill>
              <a:latin typeface="Calibri"/>
              <a:cs typeface="Calibri"/>
            </a:endParaRPr>
          </a:p>
          <a:p>
            <a:pPr marL="12700">
              <a:lnSpc>
                <a:spcPct val="100000"/>
              </a:lnSpc>
              <a:spcBef>
                <a:spcPts val="125"/>
              </a:spcBef>
            </a:pPr>
            <a:endParaRPr sz="2150" dirty="0">
              <a:latin typeface="Calibri"/>
              <a:cs typeface="Calibri"/>
            </a:endParaRPr>
          </a:p>
        </p:txBody>
      </p:sp>
      <p:pic>
        <p:nvPicPr>
          <p:cNvPr id="5" name="Picture 4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585337" y="2226495"/>
            <a:ext cx="8240275" cy="1533739"/>
          </a:xfrm>
          <a:prstGeom prst="rect">
            <a:avLst/>
          </a:prstGeom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4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952046" y="2266788"/>
            <a:ext cx="8287907" cy="2324424"/>
          </a:xfrm>
          <a:prstGeom prst="rect">
            <a:avLst/>
          </a:prstGeom>
        </p:spPr>
      </p:pic>
      <p:sp>
        <p:nvSpPr>
          <p:cNvPr id="2" name="object 2" descr="$PPTXTitle"/>
          <p:cNvSpPr txBox="1">
            <a:spLocks noGrp="1"/>
          </p:cNvSpPr>
          <p:nvPr>
            <p:ph type="title"/>
          </p:nvPr>
        </p:nvSpPr>
        <p:spPr>
          <a:xfrm>
            <a:off x="1952046" y="762001"/>
            <a:ext cx="8287907" cy="3829211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endParaRPr sz="6000" dirty="0"/>
          </a:p>
        </p:txBody>
      </p:sp>
      <p:sp>
        <p:nvSpPr>
          <p:cNvPr id="3" name="object 3"/>
          <p:cNvSpPr txBox="1">
            <a:spLocks noGrp="1"/>
          </p:cNvSpPr>
          <p:nvPr>
            <p:ph type="ftr" sz="quarter" idx="5"/>
          </p:nvPr>
        </p:nvSpPr>
        <p:spPr>
          <a:prstGeom prst="rect">
            <a:avLst/>
          </a:prstGeom>
        </p:spPr>
        <p:txBody>
          <a:bodyPr vert="horz" wrap="square" lIns="0" tIns="19050" rIns="0" bIns="0" rtlCol="0">
            <a:spAutoFit/>
          </a:bodyPr>
          <a:lstStyle/>
          <a:p>
            <a:pPr marL="12700" marR="5080">
              <a:lnSpc>
                <a:spcPts val="1280"/>
              </a:lnSpc>
              <a:spcBef>
                <a:spcPts val="150"/>
              </a:spcBef>
            </a:pPr>
            <a:r>
              <a:rPr b="1" spc="-10" dirty="0">
                <a:latin typeface="Calibri"/>
                <a:cs typeface="Calibri"/>
              </a:rPr>
              <a:t>CONFIDENTIAL</a:t>
            </a:r>
            <a:r>
              <a:rPr spc="-10" dirty="0"/>
              <a:t>: </a:t>
            </a:r>
            <a:r>
              <a:rPr dirty="0"/>
              <a:t>The</a:t>
            </a:r>
            <a:r>
              <a:rPr spc="30" dirty="0"/>
              <a:t> </a:t>
            </a:r>
            <a:r>
              <a:rPr dirty="0"/>
              <a:t>information</a:t>
            </a:r>
            <a:r>
              <a:rPr spc="-5" dirty="0"/>
              <a:t> </a:t>
            </a:r>
            <a:r>
              <a:rPr dirty="0"/>
              <a:t>in this</a:t>
            </a:r>
            <a:r>
              <a:rPr spc="-5" dirty="0"/>
              <a:t> </a:t>
            </a:r>
            <a:r>
              <a:rPr dirty="0"/>
              <a:t>document</a:t>
            </a:r>
            <a:r>
              <a:rPr spc="-10" dirty="0"/>
              <a:t> belongs</a:t>
            </a:r>
            <a:r>
              <a:rPr spc="-5" dirty="0"/>
              <a:t> </a:t>
            </a:r>
            <a:r>
              <a:rPr dirty="0"/>
              <a:t>to</a:t>
            </a:r>
            <a:r>
              <a:rPr spc="-10" dirty="0"/>
              <a:t> </a:t>
            </a:r>
            <a:r>
              <a:rPr dirty="0"/>
              <a:t>Boston Institute</a:t>
            </a:r>
            <a:r>
              <a:rPr spc="-50" dirty="0"/>
              <a:t> </a:t>
            </a:r>
            <a:r>
              <a:rPr dirty="0"/>
              <a:t>of</a:t>
            </a:r>
            <a:r>
              <a:rPr spc="25" dirty="0"/>
              <a:t> </a:t>
            </a:r>
            <a:r>
              <a:rPr spc="-10" dirty="0"/>
              <a:t>Analytics</a:t>
            </a:r>
            <a:r>
              <a:rPr spc="-5" dirty="0"/>
              <a:t> </a:t>
            </a:r>
            <a:r>
              <a:rPr dirty="0"/>
              <a:t>LLC.</a:t>
            </a:r>
            <a:r>
              <a:rPr spc="10" dirty="0"/>
              <a:t> </a:t>
            </a:r>
            <a:r>
              <a:rPr dirty="0"/>
              <a:t>Any </a:t>
            </a:r>
            <a:r>
              <a:rPr spc="-10" dirty="0"/>
              <a:t>unauthorized</a:t>
            </a:r>
            <a:r>
              <a:rPr dirty="0"/>
              <a:t> sharing</a:t>
            </a:r>
            <a:r>
              <a:rPr spc="-15" dirty="0"/>
              <a:t> </a:t>
            </a:r>
            <a:r>
              <a:rPr dirty="0"/>
              <a:t>of</a:t>
            </a:r>
            <a:r>
              <a:rPr spc="25" dirty="0"/>
              <a:t> </a:t>
            </a:r>
            <a:r>
              <a:rPr spc="-20" dirty="0"/>
              <a:t>this </a:t>
            </a:r>
            <a:r>
              <a:rPr dirty="0"/>
              <a:t>material</a:t>
            </a:r>
            <a:r>
              <a:rPr spc="10" dirty="0"/>
              <a:t> </a:t>
            </a:r>
            <a:r>
              <a:rPr dirty="0"/>
              <a:t>is</a:t>
            </a:r>
            <a:r>
              <a:rPr spc="-25" dirty="0"/>
              <a:t> </a:t>
            </a:r>
            <a:r>
              <a:rPr dirty="0"/>
              <a:t>prohibited</a:t>
            </a:r>
            <a:r>
              <a:rPr spc="-25" dirty="0"/>
              <a:t> </a:t>
            </a:r>
            <a:r>
              <a:rPr dirty="0"/>
              <a:t>and</a:t>
            </a:r>
            <a:r>
              <a:rPr spc="-20" dirty="0"/>
              <a:t> </a:t>
            </a:r>
            <a:r>
              <a:rPr dirty="0"/>
              <a:t>subject</a:t>
            </a:r>
            <a:r>
              <a:rPr spc="-35" dirty="0"/>
              <a:t> </a:t>
            </a:r>
            <a:r>
              <a:rPr dirty="0"/>
              <a:t>to</a:t>
            </a:r>
            <a:r>
              <a:rPr spc="-25" dirty="0"/>
              <a:t> </a:t>
            </a:r>
            <a:r>
              <a:rPr dirty="0"/>
              <a:t>legal</a:t>
            </a:r>
            <a:r>
              <a:rPr spc="10" dirty="0"/>
              <a:t> </a:t>
            </a:r>
            <a:r>
              <a:rPr dirty="0"/>
              <a:t>action</a:t>
            </a:r>
            <a:r>
              <a:rPr spc="-25" dirty="0"/>
              <a:t> </a:t>
            </a:r>
            <a:r>
              <a:rPr dirty="0"/>
              <a:t>under</a:t>
            </a:r>
            <a:r>
              <a:rPr spc="25" dirty="0"/>
              <a:t> </a:t>
            </a:r>
            <a:r>
              <a:rPr dirty="0"/>
              <a:t>breach</a:t>
            </a:r>
            <a:r>
              <a:rPr spc="-20" dirty="0"/>
              <a:t> </a:t>
            </a:r>
            <a:r>
              <a:rPr dirty="0"/>
              <a:t>of IP</a:t>
            </a:r>
            <a:r>
              <a:rPr spc="-15" dirty="0"/>
              <a:t> </a:t>
            </a:r>
            <a:r>
              <a:rPr dirty="0"/>
              <a:t>and</a:t>
            </a:r>
            <a:r>
              <a:rPr spc="-20" dirty="0"/>
              <a:t> </a:t>
            </a:r>
            <a:r>
              <a:rPr spc="-10" dirty="0"/>
              <a:t>confidentiality</a:t>
            </a:r>
            <a:r>
              <a:rPr spc="-15" dirty="0"/>
              <a:t> </a:t>
            </a:r>
            <a:r>
              <a:rPr spc="-10" dirty="0"/>
              <a:t>clauses.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US" dirty="0"/>
          </a:p>
        </p:txBody>
      </p:sp>
      <p:pic>
        <p:nvPicPr>
          <p:cNvPr id="5" name="Picture 4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137810" y="2419028"/>
            <a:ext cx="7916380" cy="2305372"/>
          </a:xfrm>
          <a:prstGeom prst="rect">
            <a:avLst/>
          </a:prstGeom>
        </p:spPr>
      </p:pic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304800" y="588644"/>
            <a:ext cx="11334750" cy="602755"/>
          </a:xfrm>
        </p:spPr>
        <p:txBody>
          <a:bodyPr/>
          <a:lstStyle/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125594090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US" dirty="0"/>
          </a:p>
        </p:txBody>
      </p:sp>
      <p:pic>
        <p:nvPicPr>
          <p:cNvPr id="5" name="Picture 4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885627" y="1642813"/>
            <a:ext cx="6420746" cy="3572374"/>
          </a:xfrm>
          <a:prstGeom prst="rect">
            <a:avLst/>
          </a:prstGeom>
        </p:spPr>
      </p:pic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376542806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66750" y="588645"/>
            <a:ext cx="4514850" cy="630556"/>
          </a:xfrm>
        </p:spPr>
        <p:txBody>
          <a:bodyPr/>
          <a:lstStyle/>
          <a:p>
            <a:r>
              <a:rPr lang="en-US" dirty="0" smtClean="0"/>
              <a:t>NMAP  SCAN RESULT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09600" y="2135220"/>
            <a:ext cx="10972800" cy="3968399"/>
          </a:xfrm>
        </p:spPr>
        <p:txBody>
          <a:bodyPr/>
          <a:lstStyle/>
          <a:p>
            <a:endParaRPr lang="en-US" dirty="0"/>
          </a:p>
        </p:txBody>
      </p:sp>
      <p:pic>
        <p:nvPicPr>
          <p:cNvPr id="4" name="Picture 3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362200" y="2412617"/>
            <a:ext cx="6372225" cy="330517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156324337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66750" y="588644"/>
            <a:ext cx="4210050" cy="541019"/>
          </a:xfrm>
        </p:spPr>
        <p:txBody>
          <a:bodyPr/>
          <a:lstStyle/>
          <a:p>
            <a:endParaRPr lang="en-US" dirty="0"/>
          </a:p>
        </p:txBody>
      </p:sp>
      <p:pic>
        <p:nvPicPr>
          <p:cNvPr id="4" name="Picture 3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819399" y="1742839"/>
            <a:ext cx="6172201" cy="3210161"/>
          </a:xfrm>
          <a:prstGeom prst="rect">
            <a:avLst/>
          </a:prstGeom>
        </p:spPr>
      </p:pic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2819399" y="1742839"/>
            <a:ext cx="6172201" cy="3210161"/>
          </a:xfrm>
        </p:spPr>
        <p:txBody>
          <a:bodyPr/>
          <a:lstStyle/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88595314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66750" y="588645"/>
            <a:ext cx="3676650" cy="554356"/>
          </a:xfrm>
        </p:spPr>
        <p:txBody>
          <a:bodyPr/>
          <a:lstStyle/>
          <a:p>
            <a:r>
              <a:rPr lang="en-US" dirty="0" smtClean="0"/>
              <a:t>OUT PUT FOR THIS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09600" y="2650746"/>
            <a:ext cx="10972800" cy="1107996"/>
          </a:xfrm>
        </p:spPr>
        <p:txBody>
          <a:bodyPr/>
          <a:lstStyle/>
          <a:p>
            <a:r>
              <a:rPr lang="en-US" dirty="0" smtClean="0"/>
              <a:t>.Found open ports 80(HTTP):Unencrypted web traffic</a:t>
            </a:r>
          </a:p>
          <a:p>
            <a:r>
              <a:rPr lang="en-US" dirty="0" smtClean="0"/>
              <a:t>.Found open ports 443(HTTPS):secure encrypted web traffic</a:t>
            </a:r>
          </a:p>
          <a:p>
            <a:endParaRPr lang="en-US" dirty="0"/>
          </a:p>
          <a:p>
            <a:r>
              <a:rPr lang="en-US" dirty="0" smtClean="0"/>
              <a:t>.SCAN DURATION: Completed in 60.59 Sec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554067811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66750" y="588645"/>
            <a:ext cx="4438650" cy="630556"/>
          </a:xfrm>
        </p:spPr>
        <p:txBody>
          <a:bodyPr/>
          <a:lstStyle/>
          <a:p>
            <a:r>
              <a:rPr lang="en-US" dirty="0" smtClean="0"/>
              <a:t>Nmap Scan Result</a:t>
            </a:r>
            <a:endParaRPr lang="en-US" dirty="0"/>
          </a:p>
        </p:txBody>
      </p:sp>
      <p:pic>
        <p:nvPicPr>
          <p:cNvPr id="3" name="Picture 2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04800" y="1143000"/>
            <a:ext cx="6076950" cy="46482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610637733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66750" y="588644"/>
            <a:ext cx="9239250" cy="515526"/>
          </a:xfrm>
        </p:spPr>
        <p:txBody>
          <a:bodyPr/>
          <a:lstStyle/>
          <a:p>
            <a:r>
              <a:rPr lang="en-US" dirty="0" smtClean="0"/>
              <a:t>Commands Used</a:t>
            </a:r>
            <a:endParaRPr lang="en-US" dirty="0"/>
          </a:p>
        </p:txBody>
      </p:sp>
      <p:sp>
        <p:nvSpPr>
          <p:cNvPr id="3" name="Rectangle 2"/>
          <p:cNvSpPr/>
          <p:nvPr/>
        </p:nvSpPr>
        <p:spPr>
          <a:xfrm>
            <a:off x="609600" y="1295400"/>
            <a:ext cx="7246658" cy="369332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dirty="0" err="1" smtClean="0"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nmap</a:t>
            </a:r>
            <a:r>
              <a:rPr lang="en-US" dirty="0" smtClean="0"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 -A -T4 </a:t>
            </a:r>
            <a:r>
              <a:rPr lang="en-US" u="sng" dirty="0" smtClean="0">
                <a:solidFill>
                  <a:srgbClr val="0563C1"/>
                </a:solidFill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  <a:hlinkClick r:id="rId2"/>
              </a:rPr>
              <a:t>www.royalenfield.com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845479031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66750" y="588645"/>
            <a:ext cx="2838450" cy="515526"/>
          </a:xfrm>
        </p:spPr>
        <p:txBody>
          <a:bodyPr/>
          <a:lstStyle/>
          <a:p>
            <a:r>
              <a:rPr lang="en-US" dirty="0" smtClean="0"/>
              <a:t>Output For this</a:t>
            </a:r>
            <a:endParaRPr lang="en-US" dirty="0"/>
          </a:p>
        </p:txBody>
      </p:sp>
      <p:sp>
        <p:nvSpPr>
          <p:cNvPr id="4" name="Rectangle 1"/>
          <p:cNvSpPr>
            <a:spLocks noGrp="1" noChangeArrowheads="1"/>
          </p:cNvSpPr>
          <p:nvPr>
            <p:ph type="body" idx="1"/>
          </p:nvPr>
        </p:nvSpPr>
        <p:spPr bwMode="auto">
          <a:xfrm>
            <a:off x="609600" y="2655547"/>
            <a:ext cx="11567269" cy="236988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0" tIns="0" rIns="0" bIns="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altLang="en-US" sz="3200" b="1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Google Sans"/>
              </a:rPr>
              <a:t>Port 80/</a:t>
            </a:r>
            <a:r>
              <a:rPr kumimoji="0" lang="en-US" altLang="en-US" sz="3200" b="1" i="0" u="none" strike="noStrike" cap="none" normalizeH="0" baseline="0" dirty="0" err="1" smtClean="0">
                <a:ln>
                  <a:noFill/>
                </a:ln>
                <a:solidFill>
                  <a:schemeClr val="tx1"/>
                </a:solidFill>
                <a:effectLst/>
                <a:latin typeface="Google Sans"/>
              </a:rPr>
              <a:t>tcp</a:t>
            </a:r>
            <a:r>
              <a:rPr kumimoji="0" lang="en-US" altLang="en-US" sz="3200" b="1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Google Sans"/>
              </a:rPr>
              <a:t> (HTTP):</a:t>
            </a:r>
            <a:r>
              <a:rPr kumimoji="0" lang="en-US" altLang="en-US" sz="1600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</a:rPr>
              <a:t> Open, but returned an </a:t>
            </a:r>
            <a:r>
              <a:rPr kumimoji="0" lang="en-US" altLang="en-US" sz="2000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Courier New" panose="02070309020205020404" pitchFamily="49" charset="0"/>
                <a:cs typeface="Courier New" panose="02070309020205020404" pitchFamily="49" charset="0"/>
              </a:rPr>
              <a:t>Access Denied</a:t>
            </a:r>
            <a:r>
              <a:rPr kumimoji="0" lang="en-US" altLang="en-US" sz="1600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</a:rPr>
              <a:t> page title, likely due to a firewall or CDN block</a:t>
            </a:r>
          </a:p>
          <a:p>
            <a:pPr lvl="0" algn="l" rtl="0" eaLnBrk="0" fontAlgn="base" hangingPunct="0">
              <a:spcBef>
                <a:spcPct val="0"/>
              </a:spcBef>
              <a:spcAft>
                <a:spcPct val="0"/>
              </a:spcAft>
            </a:pPr>
            <a:r>
              <a:rPr lang="en-US" sz="1600" b="1" dirty="0"/>
              <a:t>Port 443/</a:t>
            </a:r>
            <a:r>
              <a:rPr lang="en-US" sz="1600" b="1" dirty="0" err="1"/>
              <a:t>tcp</a:t>
            </a:r>
            <a:r>
              <a:rPr lang="en-US" sz="1600" b="1" dirty="0"/>
              <a:t> (HTTPS):</a:t>
            </a:r>
            <a:r>
              <a:rPr lang="en-US" sz="1600" dirty="0"/>
              <a:t> Open, utilizing SSL/TLS encryption</a:t>
            </a:r>
            <a:r>
              <a:rPr lang="en-US" sz="1600" dirty="0" smtClean="0"/>
              <a:t>.</a:t>
            </a:r>
          </a:p>
          <a:p>
            <a:pPr lvl="0" algn="l" rtl="0" eaLnBrk="0" fontAlgn="base" hangingPunct="0">
              <a:spcBef>
                <a:spcPct val="0"/>
              </a:spcBef>
              <a:spcAft>
                <a:spcPct val="0"/>
              </a:spcAft>
            </a:pPr>
            <a:r>
              <a:rPr lang="en-US" sz="1600" b="1" dirty="0"/>
              <a:t>Filtered/Closed Ports:</a:t>
            </a:r>
            <a:r>
              <a:rPr lang="en-US" sz="1600" dirty="0"/>
              <a:t> Nmap scanned 1,000 standard ports; 940 were closed and 58 were filtered (blocked by a firewall).</a:t>
            </a:r>
            <a:endParaRPr lang="en-US" sz="1600" dirty="0" smtClean="0"/>
          </a:p>
          <a:p>
            <a:pPr lvl="0" algn="l" rtl="0" eaLnBrk="0" fontAlgn="base" hangingPunct="0">
              <a:spcBef>
                <a:spcPct val="0"/>
              </a:spcBef>
              <a:spcAft>
                <a:spcPct val="0"/>
              </a:spcAft>
            </a:pPr>
            <a:endParaRPr lang="en-US" sz="1050" dirty="0" smtClean="0"/>
          </a:p>
          <a:p>
            <a:pPr lvl="0" algn="l" rtl="0" eaLnBrk="0" fontAlgn="base" hangingPunct="0">
              <a:spcBef>
                <a:spcPct val="0"/>
              </a:spcBef>
              <a:spcAft>
                <a:spcPct val="0"/>
              </a:spcAft>
            </a:pPr>
            <a:endParaRPr lang="en-US" sz="1050" dirty="0" smtClean="0"/>
          </a:p>
          <a:p>
            <a:pPr lvl="0" algn="l" rtl="0" eaLnBrk="0" fontAlgn="base" hangingPunct="0">
              <a:spcBef>
                <a:spcPct val="0"/>
              </a:spcBef>
              <a:spcAft>
                <a:spcPct val="0"/>
              </a:spcAft>
            </a:pPr>
            <a:endParaRPr lang="en-US" sz="1050" dirty="0" smtClean="0"/>
          </a:p>
          <a:p>
            <a:pPr lvl="0" algn="l" rtl="0" eaLnBrk="0" fontAlgn="base" hangingPunct="0">
              <a:spcBef>
                <a:spcPct val="0"/>
              </a:spcBef>
              <a:spcAft>
                <a:spcPct val="0"/>
              </a:spcAft>
            </a:pPr>
            <a:endParaRPr kumimoji="0" lang="en-US" altLang="en-US" sz="1050" b="0" i="0" u="none" strike="noStrike" cap="none" normalizeH="0" baseline="0" dirty="0" smtClean="0">
              <a:ln>
                <a:noFill/>
              </a:ln>
              <a:solidFill>
                <a:schemeClr val="tx1"/>
              </a:solidFill>
              <a:effectLst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lang="en-US" altLang="en-US" sz="800" dirty="0">
              <a:solidFill>
                <a:schemeClr val="tx1"/>
              </a:solidFill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altLang="en-US" sz="800" b="0" i="0" u="none" strike="noStrike" cap="none" normalizeH="0" baseline="0" dirty="0" smtClean="0">
              <a:ln>
                <a:noFill/>
              </a:ln>
              <a:solidFill>
                <a:schemeClr val="tx1"/>
              </a:solidFill>
              <a:effectLst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lang="en-US" altLang="en-US" sz="800" dirty="0">
              <a:solidFill>
                <a:schemeClr val="tx1"/>
              </a:solidFill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altLang="en-US" sz="800" b="0" i="0" u="none" strike="noStrike" cap="none" normalizeH="0" baseline="0" dirty="0" smtClean="0">
              <a:ln>
                <a:noFill/>
              </a:ln>
              <a:solidFill>
                <a:schemeClr val="tx1"/>
              </a:solidFill>
              <a:effectLst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lang="en-US" altLang="en-US" sz="800" dirty="0">
              <a:solidFill>
                <a:schemeClr val="tx1"/>
              </a:solidFill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altLang="en-US" sz="800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</a:rPr>
              <a:t>. </a:t>
            </a:r>
            <a:endParaRPr kumimoji="0" lang="en-US" altLang="en-US" sz="1800" b="0" i="0" u="none" strike="noStrike" cap="none" normalizeH="0" baseline="0" dirty="0" smtClean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553063352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66750" y="588644"/>
            <a:ext cx="5962650" cy="515526"/>
          </a:xfrm>
        </p:spPr>
        <p:txBody>
          <a:bodyPr/>
          <a:lstStyle/>
          <a:p>
            <a:r>
              <a:rPr lang="en-US" dirty="0" smtClean="0"/>
              <a:t>Trace Route:-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09600" y="1577340"/>
            <a:ext cx="10972800" cy="553998"/>
          </a:xfrm>
        </p:spPr>
        <p:txBody>
          <a:bodyPr/>
          <a:lstStyle/>
          <a:p>
            <a:r>
              <a:rPr lang="en-US" dirty="0" smtClean="0"/>
              <a:t>Traceroute Command used for trace my machine to royalenfield.com,which type of packet is transmit through</a:t>
            </a:r>
          </a:p>
          <a:p>
            <a:r>
              <a:rPr lang="en-US" dirty="0" smtClean="0"/>
              <a:t>The different types of Hop(Host To point)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251866092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66750" y="588644"/>
            <a:ext cx="4895850" cy="515526"/>
          </a:xfrm>
        </p:spPr>
        <p:txBody>
          <a:bodyPr/>
          <a:lstStyle/>
          <a:p>
            <a:r>
              <a:rPr lang="en-US" dirty="0" smtClean="0"/>
              <a:t>Traceroute Scan Result</a:t>
            </a:r>
            <a:endParaRPr lang="en-US" dirty="0"/>
          </a:p>
        </p:txBody>
      </p:sp>
      <p:pic>
        <p:nvPicPr>
          <p:cNvPr id="4" name="Picture 3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114675" y="1981200"/>
            <a:ext cx="5962650" cy="2895600"/>
          </a:xfrm>
          <a:prstGeom prst="rect">
            <a:avLst/>
          </a:prstGeom>
        </p:spPr>
      </p:pic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3114675" y="1981200"/>
            <a:ext cx="5962650" cy="2895600"/>
          </a:xfrm>
        </p:spPr>
        <p:txBody>
          <a:bodyPr/>
          <a:lstStyle/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230796745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66750" y="588644"/>
            <a:ext cx="4743450" cy="515526"/>
          </a:xfrm>
        </p:spPr>
        <p:txBody>
          <a:bodyPr/>
          <a:lstStyle/>
          <a:p>
            <a:r>
              <a:rPr lang="en-US" dirty="0" smtClean="0"/>
              <a:t>Output for This</a:t>
            </a:r>
            <a:endParaRPr lang="en-US" dirty="0"/>
          </a:p>
        </p:txBody>
      </p:sp>
      <p:sp>
        <p:nvSpPr>
          <p:cNvPr id="4" name="Rectangle 1"/>
          <p:cNvSpPr>
            <a:spLocks noGrp="1" noChangeArrowheads="1"/>
          </p:cNvSpPr>
          <p:nvPr>
            <p:ph type="body" idx="1"/>
          </p:nvPr>
        </p:nvSpPr>
        <p:spPr bwMode="auto">
          <a:xfrm>
            <a:off x="1219200" y="1926106"/>
            <a:ext cx="10871566" cy="2185214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0" tIns="0" rIns="0" bIns="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altLang="en-US" sz="1600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</a:rPr>
              <a:t>This happens because firewalls or routers along the path are configured to drop Time Exceeded ICMP packets for security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lang="en-US" altLang="en-US" sz="1600" dirty="0">
              <a:solidFill>
                <a:schemeClr val="tx1"/>
              </a:solidFill>
            </a:endParaRPr>
          </a:p>
          <a:p>
            <a:pPr lvl="0" algn="l" rtl="0" eaLnBrk="0" fontAlgn="base" hangingPunct="0">
              <a:spcBef>
                <a:spcPct val="0"/>
              </a:spcBef>
              <a:spcAft>
                <a:spcPct val="0"/>
              </a:spcAft>
            </a:pPr>
            <a:r>
              <a:rPr lang="en-US" sz="1400" dirty="0" smtClean="0"/>
              <a:t>The </a:t>
            </a:r>
            <a:r>
              <a:rPr lang="en-US" sz="1400" dirty="0"/>
              <a:t>final hop ends at an Akamai Technologies server, which means the website uses a Content Delivery Network (CDN) to host and protect its traffic</a:t>
            </a:r>
            <a:r>
              <a:rPr lang="en-US" sz="1400" dirty="0" smtClean="0"/>
              <a:t>.</a:t>
            </a:r>
          </a:p>
          <a:p>
            <a:pPr lvl="0" algn="l" rtl="0" eaLnBrk="0" fontAlgn="base" hangingPunct="0">
              <a:spcBef>
                <a:spcPct val="0"/>
              </a:spcBef>
              <a:spcAft>
                <a:spcPct val="0"/>
              </a:spcAft>
            </a:pPr>
            <a:endParaRPr kumimoji="0" lang="en-US" altLang="en-US" sz="14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</a:endParaRPr>
          </a:p>
          <a:p>
            <a:pPr lvl="0" algn="l" rtl="0" eaLnBrk="0" fontAlgn="base" hangingPunct="0">
              <a:spcBef>
                <a:spcPct val="0"/>
              </a:spcBef>
              <a:spcAft>
                <a:spcPct val="0"/>
              </a:spcAft>
            </a:pPr>
            <a:r>
              <a:rPr lang="en-US" altLang="en-US" sz="1400" dirty="0" smtClean="0">
                <a:solidFill>
                  <a:schemeClr val="tx1"/>
                </a:solidFill>
              </a:rPr>
              <a:t>If we sent ICMP packet for checking the response the firewall is intercept.</a:t>
            </a:r>
            <a:r>
              <a:rPr kumimoji="0" lang="en-US" altLang="en-US" sz="1400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</a:rPr>
              <a:t>. </a:t>
            </a:r>
          </a:p>
          <a:p>
            <a:pPr lvl="0" algn="l" rtl="0" eaLnBrk="0" fontAlgn="base" hangingPunct="0">
              <a:spcBef>
                <a:spcPct val="0"/>
              </a:spcBef>
              <a:spcAft>
                <a:spcPct val="0"/>
              </a:spcAft>
            </a:pPr>
            <a:endParaRPr lang="en-US" altLang="en-US" sz="1400" dirty="0">
              <a:solidFill>
                <a:schemeClr val="tx1"/>
              </a:solidFill>
              <a:latin typeface="Arial" panose="020B0604020202020204" pitchFamily="34" charset="0"/>
            </a:endParaRPr>
          </a:p>
          <a:p>
            <a:pPr lvl="0" algn="l" rtl="0" eaLnBrk="0" fontAlgn="base" hangingPunct="0">
              <a:spcBef>
                <a:spcPct val="0"/>
              </a:spcBef>
              <a:spcAft>
                <a:spcPct val="0"/>
              </a:spcAft>
            </a:pPr>
            <a:endParaRPr kumimoji="0" lang="en-US" altLang="en-US" sz="1400" b="0" i="0" u="none" strike="noStrike" cap="none" normalizeH="0" baseline="0" dirty="0" smtClean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  <a:p>
            <a:pPr lvl="0" algn="l" rtl="0" eaLnBrk="0" fontAlgn="base" hangingPunct="0">
              <a:spcBef>
                <a:spcPct val="0"/>
              </a:spcBef>
              <a:spcAft>
                <a:spcPct val="0"/>
              </a:spcAft>
            </a:pPr>
            <a:endParaRPr kumimoji="0" lang="en-US" altLang="en-US" sz="4000" b="0" i="0" u="none" strike="noStrike" cap="none" normalizeH="0" baseline="0" dirty="0" smtClean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325813931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66750" y="588644"/>
            <a:ext cx="6267450" cy="515526"/>
          </a:xfrm>
        </p:spPr>
        <p:txBody>
          <a:bodyPr/>
          <a:lstStyle/>
          <a:p>
            <a:r>
              <a:rPr lang="en-US" dirty="0" smtClean="0"/>
              <a:t>How we Secure It.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09600" y="1577340"/>
            <a:ext cx="10972800" cy="1661993"/>
          </a:xfrm>
        </p:spPr>
        <p:txBody>
          <a:bodyPr/>
          <a:lstStyle/>
          <a:p>
            <a:r>
              <a:rPr lang="en-US" dirty="0" smtClean="0"/>
              <a:t>1.Network Edge &amp; Perimeter Security</a:t>
            </a:r>
          </a:p>
          <a:p>
            <a:endParaRPr lang="en-US" dirty="0"/>
          </a:p>
          <a:p>
            <a:r>
              <a:rPr lang="en-US" dirty="0" smtClean="0"/>
              <a:t>Implement IP Whitelisting:-we set IP range and allow only the traffic under the IP range on port 80 and 443 from designated Akamai edge server I</a:t>
            </a:r>
            <a:r>
              <a:rPr lang="en-US" dirty="0"/>
              <a:t>P</a:t>
            </a:r>
            <a:r>
              <a:rPr lang="en-US" dirty="0" smtClean="0"/>
              <a:t> ranges. Drop all other traffic.</a:t>
            </a:r>
          </a:p>
          <a:p>
            <a:endParaRPr lang="en-US" dirty="0"/>
          </a:p>
          <a:p>
            <a:r>
              <a:rPr lang="en-US" dirty="0" smtClean="0"/>
              <a:t>Set a Firewall Rules:--Closed all unnecessary port and only ports 80 and 443 should remains accessible to public traffic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748845145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66750" y="588644"/>
            <a:ext cx="6115050" cy="615553"/>
          </a:xfrm>
        </p:spPr>
        <p:txBody>
          <a:bodyPr/>
          <a:lstStyle/>
          <a:p>
            <a:pPr algn="ctr"/>
            <a:r>
              <a:rPr lang="en-US" sz="4000" dirty="0" smtClean="0"/>
              <a:t>NMAP SCAN</a:t>
            </a:r>
            <a:r>
              <a:rPr lang="en-US" sz="4000" dirty="0"/>
              <a:t> </a:t>
            </a:r>
            <a:r>
              <a:rPr lang="en-US" sz="4000" dirty="0" smtClean="0"/>
              <a:t>RESULT</a:t>
            </a:r>
            <a:endParaRPr lang="en-US" sz="4000" dirty="0"/>
          </a:p>
        </p:txBody>
      </p:sp>
      <p:pic>
        <p:nvPicPr>
          <p:cNvPr id="4" name="Picture 3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524000" y="1447800"/>
            <a:ext cx="8334375" cy="4467225"/>
          </a:xfrm>
          <a:prstGeom prst="rect">
            <a:avLst/>
          </a:prstGeom>
        </p:spPr>
      </p:pic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533400" y="457200"/>
            <a:ext cx="11049000" cy="276999"/>
          </a:xfrm>
        </p:spPr>
        <p:txBody>
          <a:bodyPr/>
          <a:lstStyle/>
          <a:p>
            <a:endParaRPr lang="en-US" u="sng" dirty="0"/>
          </a:p>
        </p:txBody>
      </p:sp>
    </p:spTree>
    <p:extLst>
      <p:ext uri="{BB962C8B-B14F-4D97-AF65-F5344CB8AC3E}">
        <p14:creationId xmlns:p14="http://schemas.microsoft.com/office/powerpoint/2010/main" val="218442194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US"/>
          </a:p>
        </p:txBody>
      </p:sp>
      <p:pic>
        <p:nvPicPr>
          <p:cNvPr id="4" name="Picture 3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809416" y="1714260"/>
            <a:ext cx="6573167" cy="3429479"/>
          </a:xfrm>
          <a:prstGeom prst="rect">
            <a:avLst/>
          </a:prstGeom>
        </p:spPr>
      </p:pic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175958265"/>
      </p:ext>
    </p:extLst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66750" y="588645"/>
            <a:ext cx="4895850" cy="630556"/>
          </a:xfrm>
        </p:spPr>
        <p:txBody>
          <a:bodyPr/>
          <a:lstStyle/>
          <a:p>
            <a:r>
              <a:rPr lang="en-US" dirty="0" smtClean="0"/>
              <a:t>OUTPUT FOR THIS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09600" y="2135220"/>
            <a:ext cx="10972800" cy="2492990"/>
          </a:xfrm>
        </p:spPr>
        <p:txBody>
          <a:bodyPr/>
          <a:lstStyle/>
          <a:p>
            <a:r>
              <a:rPr lang="en-US" dirty="0" smtClean="0"/>
              <a:t>Scan confirmed the host is up with ip address 23.222.30.161</a:t>
            </a:r>
          </a:p>
          <a:p>
            <a:r>
              <a:rPr lang="en-US" dirty="0" smtClean="0"/>
              <a:t>DNS Resolved at 22-222-30-161 Deploy.static.akamaitechnology.com</a:t>
            </a:r>
          </a:p>
          <a:p>
            <a:endParaRPr lang="en-US" dirty="0"/>
          </a:p>
          <a:p>
            <a:r>
              <a:rPr lang="en-US" dirty="0" smtClean="0"/>
              <a:t>Found open ports 80(HTTP) and 443(HTTPS)</a:t>
            </a:r>
          </a:p>
          <a:p>
            <a:endParaRPr lang="en-US" dirty="0"/>
          </a:p>
          <a:p>
            <a:r>
              <a:rPr lang="en-US" dirty="0" smtClean="0"/>
              <a:t>Scan  Duration: Completed  260.49 Sec</a:t>
            </a:r>
          </a:p>
          <a:p>
            <a:endParaRPr lang="en-US" dirty="0"/>
          </a:p>
          <a:p>
            <a:r>
              <a:rPr lang="en-US" dirty="0" smtClean="0"/>
              <a:t>Firewall Active:65,533 ports are marked as filtered-this means a firewall or the Akamai content delivery n/w drop the packets.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057260098"/>
      </p:ext>
    </p:extLst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66750" y="588645"/>
            <a:ext cx="5048250" cy="515526"/>
          </a:xfrm>
        </p:spPr>
        <p:txBody>
          <a:bodyPr/>
          <a:lstStyle/>
          <a:p>
            <a:r>
              <a:rPr lang="en-US" dirty="0" smtClean="0"/>
              <a:t>Comparison Of Commands.</a:t>
            </a:r>
            <a:endParaRPr lang="en-US" dirty="0"/>
          </a:p>
        </p:txBody>
      </p:sp>
      <p:pic>
        <p:nvPicPr>
          <p:cNvPr id="4" name="Picture 3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356994" y="3436247"/>
            <a:ext cx="7487695" cy="2667372"/>
          </a:xfrm>
          <a:prstGeom prst="rect">
            <a:avLst/>
          </a:prstGeom>
        </p:spPr>
      </p:pic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09600" y="3166272"/>
            <a:ext cx="10972800" cy="2937347"/>
          </a:xfrm>
        </p:spPr>
        <p:txBody>
          <a:bodyPr/>
          <a:lstStyle/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27977767"/>
      </p:ext>
    </p:extLst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304800" y="588644"/>
            <a:ext cx="1981200" cy="553998"/>
          </a:xfrm>
        </p:spPr>
        <p:txBody>
          <a:bodyPr/>
          <a:lstStyle/>
          <a:p>
            <a:r>
              <a:rPr lang="en-US" sz="1800" dirty="0" smtClean="0"/>
              <a:t>NMAP SCAN RESULT</a:t>
            </a:r>
            <a:endParaRPr lang="en-US" sz="1800" dirty="0"/>
          </a:p>
        </p:txBody>
      </p:sp>
      <p:pic>
        <p:nvPicPr>
          <p:cNvPr id="4" name="Picture 3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452687" y="671512"/>
            <a:ext cx="7286625" cy="5514975"/>
          </a:xfrm>
          <a:prstGeom prst="rect">
            <a:avLst/>
          </a:prstGeom>
        </p:spPr>
      </p:pic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2452687" y="671513"/>
            <a:ext cx="7286626" cy="5514974"/>
          </a:xfrm>
        </p:spPr>
        <p:txBody>
          <a:bodyPr/>
          <a:lstStyle/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598246332"/>
      </p:ext>
    </p:extLst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152364" y="1357023"/>
            <a:ext cx="5887272" cy="4143953"/>
          </a:xfrm>
          <a:prstGeom prst="rect">
            <a:avLst/>
          </a:prstGeom>
        </p:spPr>
      </p:pic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482299513"/>
      </p:ext>
    </p:extLst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66750" y="588644"/>
            <a:ext cx="1380489" cy="1031051"/>
          </a:xfrm>
        </p:spPr>
        <p:txBody>
          <a:bodyPr/>
          <a:lstStyle/>
          <a:p>
            <a:r>
              <a:rPr lang="en-US" dirty="0" smtClean="0"/>
              <a:t>Out put for this</a:t>
            </a:r>
            <a:endParaRPr lang="en-US" dirty="0"/>
          </a:p>
        </p:txBody>
      </p:sp>
      <p:sp>
        <p:nvSpPr>
          <p:cNvPr id="3" name="TextBox 2"/>
          <p:cNvSpPr txBox="1"/>
          <p:nvPr/>
        </p:nvSpPr>
        <p:spPr>
          <a:xfrm>
            <a:off x="2514600" y="2063889"/>
            <a:ext cx="6934200" cy="563231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 smtClean="0"/>
              <a:t>The host is up with ip address 23.222.30.161</a:t>
            </a:r>
          </a:p>
          <a:p>
            <a:r>
              <a:rPr lang="en-US" dirty="0" smtClean="0"/>
              <a:t>Port 80(HTTP): Hosted on Akamai Ghost(HTTP generic server)</a:t>
            </a:r>
          </a:p>
          <a:p>
            <a:r>
              <a:rPr lang="en-US" dirty="0" smtClean="0"/>
              <a:t>Port 443(HTTPS);Hosted on Akamai Ghost with an SSL certificate.</a:t>
            </a:r>
          </a:p>
          <a:p>
            <a:endParaRPr lang="en-US" dirty="0"/>
          </a:p>
          <a:p>
            <a:r>
              <a:rPr lang="en-US" dirty="0" smtClean="0"/>
              <a:t>SSL Details:</a:t>
            </a:r>
          </a:p>
          <a:p>
            <a:endParaRPr lang="en-US" dirty="0"/>
          </a:p>
          <a:p>
            <a:r>
              <a:rPr lang="en-US" dirty="0" smtClean="0"/>
              <a:t>Subject:Royal Enfield (a unit of Eicher Motors Ltd Haryana India.</a:t>
            </a:r>
          </a:p>
          <a:p>
            <a:r>
              <a:rPr lang="en-US" dirty="0" smtClean="0"/>
              <a:t>Validity:12.11.2025 To 12.11.2026</a:t>
            </a:r>
          </a:p>
          <a:p>
            <a:endParaRPr lang="en-US" dirty="0"/>
          </a:p>
          <a:p>
            <a:r>
              <a:rPr lang="en-US" dirty="0" smtClean="0"/>
              <a:t>Observed Issue:TLS randomness does not represent time.</a:t>
            </a:r>
          </a:p>
          <a:p>
            <a:endParaRPr lang="en-US" dirty="0"/>
          </a:p>
          <a:p>
            <a:r>
              <a:rPr lang="en-US" dirty="0" smtClean="0"/>
              <a:t>Scan Duration :Completed 73.40 Sec.</a:t>
            </a:r>
          </a:p>
          <a:p>
            <a:endParaRPr lang="en-US" dirty="0"/>
          </a:p>
          <a:p>
            <a:r>
              <a:rPr lang="en-US" dirty="0"/>
              <a:t>t</a:t>
            </a:r>
            <a:r>
              <a:rPr lang="en-US" dirty="0" smtClean="0"/>
              <a:t>cpwrapped status- the port 80 and 443means the server closed the tcp connection immediately after the handshake completed.</a:t>
            </a:r>
          </a:p>
          <a:p>
            <a:r>
              <a:rPr lang="en-US" dirty="0" smtClean="0"/>
              <a:t>A firewall and load balancer blocking the NMAP</a:t>
            </a:r>
          </a:p>
          <a:p>
            <a:endParaRPr lang="en-US" dirty="0"/>
          </a:p>
          <a:p>
            <a:endParaRPr lang="en-US" dirty="0" smtClean="0"/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289425161"/>
      </p:ext>
    </p:extLst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66750" y="588644"/>
            <a:ext cx="6267450" cy="3093154"/>
          </a:xfrm>
        </p:spPr>
        <p:txBody>
          <a:bodyPr/>
          <a:lstStyle/>
          <a:p>
            <a:r>
              <a:rPr lang="en-US" dirty="0" err="1" smtClean="0"/>
              <a:t>Nikto</a:t>
            </a:r>
            <a:r>
              <a:rPr lang="en-US" dirty="0" smtClean="0"/>
              <a:t> Test On www.royalenfield.com</a:t>
            </a:r>
            <a:endParaRPr lang="en-US" dirty="0"/>
          </a:p>
        </p:txBody>
      </p:sp>
      <p:pic>
        <p:nvPicPr>
          <p:cNvPr id="4" name="Picture 3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743200" y="1981200"/>
            <a:ext cx="6287377" cy="4134427"/>
          </a:xfrm>
          <a:prstGeom prst="rect">
            <a:avLst/>
          </a:prstGeom>
        </p:spPr>
      </p:pic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09600" y="1981200"/>
            <a:ext cx="10972800" cy="4122420"/>
          </a:xfrm>
        </p:spPr>
        <p:txBody>
          <a:bodyPr/>
          <a:lstStyle/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179768037"/>
      </p:ext>
    </p:extLst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66750" y="588644"/>
            <a:ext cx="1380489" cy="1546577"/>
          </a:xfrm>
        </p:spPr>
        <p:txBody>
          <a:bodyPr/>
          <a:lstStyle/>
          <a:p>
            <a:r>
              <a:rPr lang="en-US" dirty="0" err="1" smtClean="0"/>
              <a:t>Nikto</a:t>
            </a:r>
            <a:r>
              <a:rPr lang="en-US" dirty="0" smtClean="0"/>
              <a:t> Scan Result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pic>
        <p:nvPicPr>
          <p:cNvPr id="4" name="Picture 3"/>
          <p:cNvPicPr/>
          <p:nvPr/>
        </p:nvPicPr>
        <p:blipFill>
          <a:blip r:embed="rId2"/>
          <a:stretch>
            <a:fillRect/>
          </a:stretch>
        </p:blipFill>
        <p:spPr>
          <a:xfrm>
            <a:off x="3124200" y="2184400"/>
            <a:ext cx="5943600" cy="24892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149731199"/>
      </p:ext>
    </p:extLst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US"/>
          </a:p>
        </p:txBody>
      </p:sp>
      <p:pic>
        <p:nvPicPr>
          <p:cNvPr id="4" name="Picture 3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247627" y="1761892"/>
            <a:ext cx="5696745" cy="3334215"/>
          </a:xfrm>
          <a:prstGeom prst="rect">
            <a:avLst/>
          </a:prstGeom>
        </p:spPr>
      </p:pic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572552178"/>
      </p:ext>
    </p:extLst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66750" y="588645"/>
            <a:ext cx="4210050" cy="630556"/>
          </a:xfrm>
        </p:spPr>
        <p:txBody>
          <a:bodyPr/>
          <a:lstStyle/>
          <a:p>
            <a:r>
              <a:rPr lang="en-US" dirty="0" smtClean="0"/>
              <a:t>Output for this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09600" y="1577340"/>
            <a:ext cx="10972800" cy="4431983"/>
          </a:xfrm>
        </p:spPr>
        <p:txBody>
          <a:bodyPr/>
          <a:lstStyle/>
          <a:p>
            <a:r>
              <a:rPr lang="en-US" dirty="0" smtClean="0"/>
              <a:t>Server: generic Server</a:t>
            </a:r>
          </a:p>
          <a:p>
            <a:r>
              <a:rPr lang="en-US" dirty="0" smtClean="0"/>
              <a:t>Target Ip 23.222.30.161</a:t>
            </a:r>
          </a:p>
          <a:p>
            <a:r>
              <a:rPr lang="en-US" dirty="0" smtClean="0"/>
              <a:t>Target port 80</a:t>
            </a:r>
          </a:p>
          <a:p>
            <a:r>
              <a:rPr lang="en-US" dirty="0" smtClean="0"/>
              <a:t>Start Time 14:33:19</a:t>
            </a:r>
          </a:p>
          <a:p>
            <a:endParaRPr lang="en-US" dirty="0"/>
          </a:p>
          <a:p>
            <a:r>
              <a:rPr lang="en-US" dirty="0" smtClean="0"/>
              <a:t>The root directory automatically redirects all insure traffic from port 80 to the secure HTTPS site.</a:t>
            </a:r>
          </a:p>
          <a:p>
            <a:endParaRPr lang="en-US" dirty="0"/>
          </a:p>
          <a:p>
            <a:r>
              <a:rPr lang="en-US" dirty="0"/>
              <a:t>The root directory does not use this header, leaving the application vulnerable to clickjacking attacks</a:t>
            </a:r>
            <a:r>
              <a:rPr lang="en-US" dirty="0" smtClean="0"/>
              <a:t>.</a:t>
            </a:r>
          </a:p>
          <a:p>
            <a:r>
              <a:rPr lang="en-US" dirty="0" smtClean="0"/>
              <a:t>X-Frame-Opt—it is a type of header, it ensure to protect the server and it ensure to import other website under </a:t>
            </a:r>
          </a:p>
          <a:p>
            <a:r>
              <a:rPr lang="en-US" dirty="0" smtClean="0"/>
              <a:t>This to display or not.</a:t>
            </a:r>
          </a:p>
          <a:p>
            <a:endParaRPr lang="en-US" dirty="0"/>
          </a:p>
          <a:p>
            <a:endParaRPr lang="en-US" dirty="0" smtClean="0"/>
          </a:p>
          <a:p>
            <a:endParaRPr lang="en-US" dirty="0"/>
          </a:p>
          <a:p>
            <a:endParaRPr lang="en-US" dirty="0" smtClean="0"/>
          </a:p>
          <a:p>
            <a:endParaRPr lang="en-US" dirty="0"/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929664731"/>
      </p:ext>
    </p:extLst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US"/>
          </a:p>
        </p:txBody>
      </p:sp>
      <p:pic>
        <p:nvPicPr>
          <p:cNvPr id="4" name="Picture 3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766548" y="1728550"/>
            <a:ext cx="6658904" cy="3400900"/>
          </a:xfrm>
          <a:prstGeom prst="rect">
            <a:avLst/>
          </a:prstGeom>
        </p:spPr>
      </p:pic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233410869"/>
      </p:ext>
    </p:extLst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66750" y="588644"/>
            <a:ext cx="10229850" cy="515526"/>
          </a:xfrm>
        </p:spPr>
        <p:txBody>
          <a:bodyPr/>
          <a:lstStyle/>
          <a:p>
            <a:r>
              <a:rPr lang="en-US" dirty="0" smtClean="0"/>
              <a:t>When intercept on we find the get request</a:t>
            </a:r>
            <a:endParaRPr lang="en-US" dirty="0"/>
          </a:p>
        </p:txBody>
      </p:sp>
      <p:pic>
        <p:nvPicPr>
          <p:cNvPr id="4" name="Picture 3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347389" y="2338235"/>
            <a:ext cx="7497221" cy="2181529"/>
          </a:xfrm>
          <a:prstGeom prst="rect">
            <a:avLst/>
          </a:prstGeom>
        </p:spPr>
      </p:pic>
      <p:pic>
        <p:nvPicPr>
          <p:cNvPr id="5" name="Picture 4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366837" y="1828799"/>
            <a:ext cx="9458325" cy="4848225"/>
          </a:xfrm>
          <a:prstGeom prst="rect">
            <a:avLst/>
          </a:prstGeom>
        </p:spPr>
      </p:pic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09600" y="1577340"/>
            <a:ext cx="10972800" cy="3680460"/>
          </a:xfrm>
        </p:spPr>
        <p:txBody>
          <a:bodyPr/>
          <a:lstStyle/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721335695"/>
      </p:ext>
    </p:extLst>
  </p:cSld>
  <p:clrMapOvr>
    <a:masterClrMapping/>
  </p:clrMapOvr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66750" y="588644"/>
            <a:ext cx="9863137" cy="369332"/>
          </a:xfrm>
        </p:spPr>
        <p:txBody>
          <a:bodyPr/>
          <a:lstStyle/>
          <a:p>
            <a:r>
              <a:rPr lang="en-US" sz="2400" dirty="0" smtClean="0"/>
              <a:t>After intercept is on the browser did not get the response</a:t>
            </a:r>
            <a:endParaRPr lang="en-US" sz="2400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09600" y="457200"/>
            <a:ext cx="10972800" cy="1397139"/>
          </a:xfrm>
        </p:spPr>
        <p:txBody>
          <a:bodyPr/>
          <a:lstStyle/>
          <a:p>
            <a:endParaRPr lang="en-US" b="1" dirty="0"/>
          </a:p>
        </p:txBody>
      </p:sp>
      <p:pic>
        <p:nvPicPr>
          <p:cNvPr id="4" name="Picture 3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662112" y="2033587"/>
            <a:ext cx="8867775" cy="279082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558634922"/>
      </p:ext>
    </p:extLst>
  </p:cSld>
  <p:clrMapOvr>
    <a:masterClrMapping/>
  </p:clrMapOvr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66750" y="588645"/>
            <a:ext cx="7410450" cy="577216"/>
          </a:xfrm>
        </p:spPr>
        <p:txBody>
          <a:bodyPr/>
          <a:lstStyle/>
          <a:p>
            <a:r>
              <a:rPr lang="en-US" dirty="0" smtClean="0"/>
              <a:t>After Forwarded The Response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09600" y="1577340"/>
            <a:ext cx="7010400" cy="3686175"/>
          </a:xfrm>
        </p:spPr>
        <p:txBody>
          <a:bodyPr/>
          <a:lstStyle/>
          <a:p>
            <a:endParaRPr lang="en-US" dirty="0"/>
          </a:p>
        </p:txBody>
      </p:sp>
      <p:pic>
        <p:nvPicPr>
          <p:cNvPr id="4" name="Picture 3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09600" y="1371600"/>
            <a:ext cx="10972800" cy="368617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126576324"/>
      </p:ext>
    </p:extLst>
  </p:cSld>
  <p:clrMapOvr>
    <a:masterClrMapping/>
  </p:clrMapOvr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66750" y="588644"/>
            <a:ext cx="8629650" cy="515526"/>
          </a:xfrm>
        </p:spPr>
        <p:txBody>
          <a:bodyPr/>
          <a:lstStyle/>
          <a:p>
            <a:r>
              <a:rPr lang="en-US" dirty="0" smtClean="0"/>
              <a:t>Sub finder: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09600" y="2209800"/>
            <a:ext cx="10972800" cy="830997"/>
          </a:xfrm>
        </p:spPr>
        <p:txBody>
          <a:bodyPr/>
          <a:lstStyle/>
          <a:p>
            <a:r>
              <a:rPr lang="en-US" b="1" dirty="0" smtClean="0"/>
              <a:t>Sub finder</a:t>
            </a:r>
            <a:r>
              <a:rPr lang="en-US" dirty="0" smtClean="0"/>
              <a:t> </a:t>
            </a:r>
            <a:r>
              <a:rPr lang="en-US" dirty="0"/>
              <a:t>is an open-source command-line tool used in cybersecurity to </a:t>
            </a:r>
            <a:r>
              <a:rPr lang="en-US" b="1" dirty="0"/>
              <a:t>discover valid subdomains</a:t>
            </a:r>
            <a:r>
              <a:rPr lang="en-US" dirty="0"/>
              <a:t> of a website. Developed by </a:t>
            </a:r>
            <a:r>
              <a:rPr lang="en-US" dirty="0" smtClean="0"/>
              <a:t>Project Discovery, </a:t>
            </a:r>
            <a:r>
              <a:rPr lang="en-US" dirty="0"/>
              <a:t>it is primarily used for reconnaissance (information gathering) by penetration testers, bug bounty hunters, and security teams</a:t>
            </a:r>
          </a:p>
        </p:txBody>
      </p:sp>
    </p:spTree>
    <p:extLst>
      <p:ext uri="{BB962C8B-B14F-4D97-AF65-F5344CB8AC3E}">
        <p14:creationId xmlns:p14="http://schemas.microsoft.com/office/powerpoint/2010/main" val="2791410089"/>
      </p:ext>
    </p:extLst>
  </p:cSld>
  <p:clrMapOvr>
    <a:masterClrMapping/>
  </p:clrMapOvr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66750" y="588644"/>
            <a:ext cx="2838450" cy="307777"/>
          </a:xfrm>
        </p:spPr>
        <p:txBody>
          <a:bodyPr/>
          <a:lstStyle/>
          <a:p>
            <a:r>
              <a:rPr lang="en-US" sz="2000" dirty="0" smtClean="0"/>
              <a:t>Sub finder Scan Result</a:t>
            </a:r>
            <a:endParaRPr lang="en-US" sz="2000" dirty="0"/>
          </a:p>
        </p:txBody>
      </p:sp>
      <p:pic>
        <p:nvPicPr>
          <p:cNvPr id="5" name="Picture 4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014662" y="1757362"/>
            <a:ext cx="6162675" cy="3343275"/>
          </a:xfrm>
          <a:prstGeom prst="rect">
            <a:avLst/>
          </a:prstGeom>
        </p:spPr>
      </p:pic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3014662" y="1757362"/>
            <a:ext cx="6162675" cy="3343275"/>
          </a:xfrm>
        </p:spPr>
        <p:txBody>
          <a:bodyPr/>
          <a:lstStyle/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960295089"/>
      </p:ext>
    </p:extLst>
  </p:cSld>
  <p:clrMapOvr>
    <a:masterClrMapping/>
  </p:clrMapOvr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66750" y="588644"/>
            <a:ext cx="4819650" cy="515526"/>
          </a:xfrm>
        </p:spPr>
        <p:txBody>
          <a:bodyPr/>
          <a:lstStyle/>
          <a:p>
            <a:r>
              <a:rPr lang="en-US" dirty="0" smtClean="0"/>
              <a:t>Output For This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09600" y="2057400"/>
            <a:ext cx="10972800" cy="1661993"/>
          </a:xfrm>
        </p:spPr>
        <p:txBody>
          <a:bodyPr/>
          <a:lstStyle/>
          <a:p>
            <a:endParaRPr lang="en-US" dirty="0" smtClean="0"/>
          </a:p>
          <a:p>
            <a:endParaRPr lang="en-US" dirty="0"/>
          </a:p>
          <a:p>
            <a:endParaRPr lang="en-US" dirty="0" smtClean="0"/>
          </a:p>
          <a:p>
            <a:r>
              <a:rPr lang="en-US" dirty="0" smtClean="0"/>
              <a:t>Found 301 subdomain for royalenfield.com</a:t>
            </a:r>
          </a:p>
          <a:p>
            <a:endParaRPr lang="en-US" dirty="0"/>
          </a:p>
          <a:p>
            <a:r>
              <a:rPr lang="en-US" dirty="0" smtClean="0"/>
              <a:t>Total scan time:30 sec</a:t>
            </a:r>
            <a:endParaRPr lang="en-US" dirty="0"/>
          </a:p>
        </p:txBody>
      </p:sp>
      <p:pic>
        <p:nvPicPr>
          <p:cNvPr id="4" name="Picture 3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33400" y="1082047"/>
            <a:ext cx="5981700" cy="178117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683692454"/>
      </p:ext>
    </p:extLst>
  </p:cSld>
  <p:clrMapOvr>
    <a:masterClrMapping/>
  </p:clrMapOvr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66750" y="588644"/>
            <a:ext cx="4362450" cy="515526"/>
          </a:xfrm>
        </p:spPr>
        <p:txBody>
          <a:bodyPr/>
          <a:lstStyle/>
          <a:p>
            <a:r>
              <a:rPr lang="en-US" dirty="0" smtClean="0"/>
              <a:t>About Vulnerability</a:t>
            </a:r>
            <a:endParaRPr lang="en-US" dirty="0"/>
          </a:p>
        </p:txBody>
      </p:sp>
      <p:pic>
        <p:nvPicPr>
          <p:cNvPr id="4" name="Picture 3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242599" y="1799997"/>
            <a:ext cx="7706801" cy="3258005"/>
          </a:xfrm>
          <a:prstGeom prst="rect">
            <a:avLst/>
          </a:prstGeom>
        </p:spPr>
      </p:pic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386451356"/>
      </p:ext>
    </p:extLst>
  </p:cSld>
  <p:clrMapOvr>
    <a:masterClrMapping/>
  </p:clrMapOvr>
</p:sld>
</file>

<file path=ppt/slides/slide3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66750" y="588644"/>
            <a:ext cx="4591050" cy="515526"/>
          </a:xfrm>
        </p:spPr>
        <p:txBody>
          <a:bodyPr/>
          <a:lstStyle/>
          <a:p>
            <a:r>
              <a:rPr lang="en-US" dirty="0" smtClean="0"/>
              <a:t>Analysis</a:t>
            </a:r>
            <a:endParaRPr lang="en-US" dirty="0"/>
          </a:p>
        </p:txBody>
      </p:sp>
      <p:pic>
        <p:nvPicPr>
          <p:cNvPr id="4" name="Picture 3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385494" y="1547550"/>
            <a:ext cx="7421011" cy="3762900"/>
          </a:xfrm>
          <a:prstGeom prst="rect">
            <a:avLst/>
          </a:prstGeom>
        </p:spPr>
      </p:pic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724554105"/>
      </p:ext>
    </p:extLst>
  </p:cSld>
  <p:clrMapOvr>
    <a:masterClrMapping/>
  </p:clrMapOvr>
</p:sld>
</file>

<file path=ppt/slides/slide4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66750" y="588644"/>
            <a:ext cx="4514850" cy="515526"/>
          </a:xfrm>
        </p:spPr>
        <p:txBody>
          <a:bodyPr/>
          <a:lstStyle/>
          <a:p>
            <a:r>
              <a:rPr lang="en-US" dirty="0" smtClean="0"/>
              <a:t>Analysis</a:t>
            </a:r>
            <a:endParaRPr lang="en-US" dirty="0"/>
          </a:p>
        </p:txBody>
      </p:sp>
      <p:pic>
        <p:nvPicPr>
          <p:cNvPr id="4" name="Picture 3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347389" y="1385602"/>
            <a:ext cx="7497221" cy="4086795"/>
          </a:xfrm>
          <a:prstGeom prst="rect">
            <a:avLst/>
          </a:prstGeom>
        </p:spPr>
      </p:pic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201412256"/>
      </p:ext>
    </p:extLst>
  </p:cSld>
  <p:clrMapOvr>
    <a:masterClrMapping/>
  </p:clrMapOvr>
</p:sld>
</file>

<file path=ppt/slides/slide4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66750" y="588644"/>
            <a:ext cx="3905250" cy="515526"/>
          </a:xfrm>
        </p:spPr>
        <p:txBody>
          <a:bodyPr/>
          <a:lstStyle/>
          <a:p>
            <a:r>
              <a:rPr lang="en-US" dirty="0" smtClean="0"/>
              <a:t>MITIGATION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4"/>
          </p:nvPr>
        </p:nvSpPr>
        <p:spPr>
          <a:xfrm>
            <a:off x="1828800" y="1295400"/>
            <a:ext cx="8534400" cy="3877985"/>
          </a:xfrm>
        </p:spPr>
        <p:txBody>
          <a:bodyPr/>
          <a:lstStyle/>
          <a:p>
            <a:r>
              <a:rPr lang="en-US" b="1" dirty="0"/>
              <a:t>1. Web Application Firewall (WAF) Controls [</a:t>
            </a:r>
            <a:r>
              <a:rPr lang="en-US" b="1" dirty="0">
                <a:hlinkClick r:id="rId2"/>
              </a:rPr>
              <a:t>1</a:t>
            </a:r>
            <a:r>
              <a:rPr lang="en-US" b="1" dirty="0"/>
              <a:t>]</a:t>
            </a:r>
          </a:p>
          <a:p>
            <a:r>
              <a:rPr lang="en-US" dirty="0"/>
              <a:t>Your first line of defense is configuring your WAF (e.g., </a:t>
            </a:r>
            <a:r>
              <a:rPr lang="en-US" dirty="0" err="1"/>
              <a:t>Cloudflare</a:t>
            </a:r>
            <a:r>
              <a:rPr lang="en-US" dirty="0"/>
              <a:t>, AWS WAF, Akamai) to detect Burp Suite’s specific traffic signatures</a:t>
            </a:r>
            <a:r>
              <a:rPr lang="en-US" dirty="0" smtClean="0"/>
              <a:t>.</a:t>
            </a:r>
          </a:p>
          <a:p>
            <a:endParaRPr lang="en-US" dirty="0"/>
          </a:p>
          <a:p>
            <a:r>
              <a:rPr lang="en-US" b="1" dirty="0" smtClean="0"/>
              <a:t>2. Certificate Transparency Log Privacy/Deploy Wildcard Certificate</a:t>
            </a:r>
          </a:p>
          <a:p>
            <a:r>
              <a:rPr lang="en-US" dirty="0" smtClean="0"/>
              <a:t>Mandate SSL/TLS Certificate </a:t>
            </a:r>
            <a:r>
              <a:rPr lang="en-US" dirty="0"/>
              <a:t>for a subdomain certificate authorities are legally mandated to publish that creation to public </a:t>
            </a:r>
            <a:r>
              <a:rPr lang="en-US" dirty="0" smtClean="0"/>
              <a:t>Certificate.</a:t>
            </a:r>
          </a:p>
          <a:p>
            <a:endParaRPr lang="en-US" dirty="0"/>
          </a:p>
          <a:p>
            <a:r>
              <a:rPr lang="en-US" dirty="0" smtClean="0"/>
              <a:t>3. </a:t>
            </a:r>
            <a:r>
              <a:rPr lang="en-US" dirty="0"/>
              <a:t>I</a:t>
            </a:r>
            <a:r>
              <a:rPr lang="en-US" dirty="0" smtClean="0"/>
              <a:t>ssuing specific certificates for every single subdomains.</a:t>
            </a:r>
          </a:p>
          <a:p>
            <a:endParaRPr lang="en-US" dirty="0"/>
          </a:p>
          <a:p>
            <a:endParaRPr lang="en-US" dirty="0" smtClean="0"/>
          </a:p>
          <a:p>
            <a:endParaRPr lang="en-US" dirty="0"/>
          </a:p>
          <a:p>
            <a:endParaRPr lang="en-US" dirty="0"/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480892346"/>
      </p:ext>
    </p:extLst>
  </p:cSld>
  <p:clrMapOvr>
    <a:masterClrMapping/>
  </p:clrMapOvr>
</p:sld>
</file>

<file path=ppt/slides/slide4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US"/>
          </a:p>
        </p:txBody>
      </p:sp>
      <p:pic>
        <p:nvPicPr>
          <p:cNvPr id="4" name="Picture 3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952311" y="1990524"/>
            <a:ext cx="6287377" cy="2876951"/>
          </a:xfrm>
          <a:prstGeom prst="rect">
            <a:avLst/>
          </a:prstGeom>
        </p:spPr>
      </p:pic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454195364"/>
      </p:ext>
    </p:extLst>
  </p:cSld>
  <p:clrMapOvr>
    <a:masterClrMapping/>
  </p:clrMapOvr>
</p:sld>
</file>

<file path=ppt/slides/slide4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66750" y="588644"/>
            <a:ext cx="4591050" cy="515526"/>
          </a:xfrm>
        </p:spPr>
        <p:txBody>
          <a:bodyPr/>
          <a:lstStyle/>
          <a:p>
            <a:r>
              <a:rPr lang="en-US" dirty="0" smtClean="0"/>
              <a:t>The End</a:t>
            </a:r>
            <a:endParaRPr lang="en-US" dirty="0"/>
          </a:p>
        </p:txBody>
      </p:sp>
      <p:pic>
        <p:nvPicPr>
          <p:cNvPr id="4" name="Picture 3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628416" y="1552313"/>
            <a:ext cx="6935168" cy="3753374"/>
          </a:xfrm>
          <a:prstGeom prst="rect">
            <a:avLst/>
          </a:prstGeom>
        </p:spPr>
      </p:pic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2628416" y="1552314"/>
            <a:ext cx="6935168" cy="3753374"/>
          </a:xfrm>
        </p:spPr>
        <p:txBody>
          <a:bodyPr/>
          <a:lstStyle/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373163603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982</TotalTime>
  <Words>1005</Words>
  <Application>Microsoft Office PowerPoint</Application>
  <PresentationFormat>Widescreen</PresentationFormat>
  <Paragraphs>141</Paragraphs>
  <Slides>43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6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43</vt:i4>
      </vt:variant>
    </vt:vector>
  </HeadingPairs>
  <TitlesOfParts>
    <vt:vector size="50" baseType="lpstr">
      <vt:lpstr>Arial</vt:lpstr>
      <vt:lpstr>Arial MT</vt:lpstr>
      <vt:lpstr>Calibri</vt:lpstr>
      <vt:lpstr>Courier New</vt:lpstr>
      <vt:lpstr>Google Sans</vt:lpstr>
      <vt:lpstr>Times New Roman</vt:lpstr>
      <vt:lpstr>Office Theme</vt:lpstr>
      <vt:lpstr> Capstone Project: Report on tools used for Scanning a Website</vt:lpstr>
      <vt:lpstr>Agenda  Scan a website and find out what open ports are actively running and what the functions, benefits and threats of such ports being opened, test the vulnerability in the website.</vt:lpstr>
      <vt:lpstr>Title</vt:lpstr>
      <vt:lpstr>PowerPoint Presentation</vt:lpstr>
      <vt:lpstr>Click to edit Master title style</vt:lpstr>
      <vt:lpstr>Title_About The Tools</vt:lpstr>
      <vt:lpstr>PowerPoint Presentation</vt:lpstr>
      <vt:lpstr>PowerPoint Presentation</vt:lpstr>
      <vt:lpstr>PowerPoint Presentation</vt:lpstr>
      <vt:lpstr>NMAP  SCAN RESULT</vt:lpstr>
      <vt:lpstr>PowerPoint Presentation</vt:lpstr>
      <vt:lpstr>OUT PUT FOR THIS</vt:lpstr>
      <vt:lpstr>Nmap Scan Result</vt:lpstr>
      <vt:lpstr>Commands Used</vt:lpstr>
      <vt:lpstr>Output For this</vt:lpstr>
      <vt:lpstr>Trace Route:-</vt:lpstr>
      <vt:lpstr>Traceroute Scan Result</vt:lpstr>
      <vt:lpstr>Output for This</vt:lpstr>
      <vt:lpstr>How we Secure It.</vt:lpstr>
      <vt:lpstr>NMAP SCAN RESULT</vt:lpstr>
      <vt:lpstr>PowerPoint Presentation</vt:lpstr>
      <vt:lpstr>OUTPUT FOR THIS</vt:lpstr>
      <vt:lpstr>Comparison Of Commands.</vt:lpstr>
      <vt:lpstr>NMAP SCAN RESULT</vt:lpstr>
      <vt:lpstr>PowerPoint Presentation</vt:lpstr>
      <vt:lpstr>Out put for this</vt:lpstr>
      <vt:lpstr>Nikto Test On www.royalenfield.com</vt:lpstr>
      <vt:lpstr>Nikto Scan Result</vt:lpstr>
      <vt:lpstr>PowerPoint Presentation</vt:lpstr>
      <vt:lpstr>Output for this</vt:lpstr>
      <vt:lpstr>PowerPoint Presentation</vt:lpstr>
      <vt:lpstr>When intercept on we find the get request</vt:lpstr>
      <vt:lpstr>After intercept is on the browser did not get the response</vt:lpstr>
      <vt:lpstr>After Forwarded The Response</vt:lpstr>
      <vt:lpstr>Sub finder:</vt:lpstr>
      <vt:lpstr>Sub finder Scan Result</vt:lpstr>
      <vt:lpstr>Output For This</vt:lpstr>
      <vt:lpstr>About Vulnerability</vt:lpstr>
      <vt:lpstr>Analysis</vt:lpstr>
      <vt:lpstr>Analysis</vt:lpstr>
      <vt:lpstr>MITIGATION</vt:lpstr>
      <vt:lpstr>PowerPoint Presentation</vt:lpstr>
      <vt:lpstr>The End</vt:lpstr>
    </vt:vector>
  </TitlesOfParts>
  <LinksUpToDate>false</LinksUpToDate>
  <SharedDoc>false</SharedDoc>
  <HyperlinksChanged>false</HyperlinksChanged>
  <AppVersion>15.0000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Name of Capstone Project</dc:title>
  <cp:lastModifiedBy>Microsoft account</cp:lastModifiedBy>
  <cp:revision>101</cp:revision>
  <dcterms:created xsi:type="dcterms:W3CDTF">2026-05-10T07:39:32Z</dcterms:created>
  <dcterms:modified xsi:type="dcterms:W3CDTF">2026-05-30T17:12:07Z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onverter">
    <vt:lpwstr>SolidFramework v10.0.19910.1</vt:lpwstr>
  </property>
  <property fmtid="{D5CDD505-2E9C-101B-9397-08002B2CF9AE}" pid="3" name="Created">
    <vt:filetime>2026-05-10T00:00:00Z</vt:filetime>
  </property>
  <property fmtid="{D5CDD505-2E9C-101B-9397-08002B2CF9AE}" pid="4" name="Creator">
    <vt:lpwstr>PDFium</vt:lpwstr>
  </property>
  <property fmtid="{D5CDD505-2E9C-101B-9397-08002B2CF9AE}" pid="5" name="Producer">
    <vt:lpwstr>PDFium</vt:lpwstr>
  </property>
  <property fmtid="{D5CDD505-2E9C-101B-9397-08002B2CF9AE}" pid="6" name="LastSaved">
    <vt:filetime>2026-05-10T00:00:00Z</vt:filetime>
  </property>
</Properties>
</file>